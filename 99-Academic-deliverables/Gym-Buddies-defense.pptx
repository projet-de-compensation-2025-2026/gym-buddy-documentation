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3df384b7f27400e" /><Relationship Type="http://schemas.openxmlformats.org/officeDocument/2006/relationships/extended-properties" Target="/docProps/app.xml" Id="Rf2e6ca6a9a61445a" /><Relationship Type="http://schemas.openxmlformats.org/officeDocument/2006/relationships/officeDocument" Target="/ppt/presentation.xml" Id="Re1103a7a905e4690" /></Relationships>
</file>

<file path=ppt/presentation.xml><?xml version="1.0" encoding="utf-8"?>
<p:presentation xmlns:p="http://schemas.openxmlformats.org/presentationml/2006/main">
  <p:sldMasterIdLst>
    <p:sldMasterId xmlns:r="http://schemas.openxmlformats.org/officeDocument/2006/relationships" id="2147483648" r:id="Rafdbe6b1549e4b5c"/>
  </p:sldMasterIdLst>
  <p:notesMasterIdLst>
    <p:notesMasterId xmlns:r="http://schemas.openxmlformats.org/officeDocument/2006/relationships" r:id="Ree2f20169c7f478b"/>
  </p:notesMasterIdLst>
  <p:sldIdLst>
    <p:sldId xmlns:r="http://schemas.openxmlformats.org/officeDocument/2006/relationships" id="256" r:id="Rbc3faadc1f544b8e"/>
    <p:sldId xmlns:r="http://schemas.openxmlformats.org/officeDocument/2006/relationships" id="257" r:id="R5bdedcacbef9484e"/>
    <p:sldId xmlns:r="http://schemas.openxmlformats.org/officeDocument/2006/relationships" id="258" r:id="R35055eaa778041ab"/>
    <p:sldId xmlns:r="http://schemas.openxmlformats.org/officeDocument/2006/relationships" id="259" r:id="R5d2d96e1b0af4384"/>
    <p:sldId xmlns:r="http://schemas.openxmlformats.org/officeDocument/2006/relationships" id="260" r:id="R363119b8b6224216"/>
    <p:sldId xmlns:r="http://schemas.openxmlformats.org/officeDocument/2006/relationships" id="261" r:id="Ref3b9d91a5524072"/>
    <p:sldId xmlns:r="http://schemas.openxmlformats.org/officeDocument/2006/relationships" id="262" r:id="Rf693a52dcf85423f"/>
    <p:sldId xmlns:r="http://schemas.openxmlformats.org/officeDocument/2006/relationships" id="263" r:id="R7c74e76f747742bf"/>
    <p:sldId xmlns:r="http://schemas.openxmlformats.org/officeDocument/2006/relationships" id="264" r:id="R28c93cd14b7a47f1"/>
    <p:sldId xmlns:r="http://schemas.openxmlformats.org/officeDocument/2006/relationships" id="265" r:id="R107b3155314040c6"/>
    <p:sldId xmlns:r="http://schemas.openxmlformats.org/officeDocument/2006/relationships" id="266" r:id="R18cc50b5f2784518"/>
    <p:sldId xmlns:r="http://schemas.openxmlformats.org/officeDocument/2006/relationships" id="267" r:id="R137d9aec905f4bf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19dd29e48424551" /><Relationship Type="http://schemas.openxmlformats.org/officeDocument/2006/relationships/slideMaster" Target="/ppt/slideMasters/slideMaster1.xml" Id="Rafdbe6b1549e4b5c" /><Relationship Type="http://schemas.openxmlformats.org/officeDocument/2006/relationships/notesMaster" Target="/ppt/notesMasters/notesMaster1.xml" Id="Ree2f20169c7f478b" /><Relationship Type="http://schemas.openxmlformats.org/officeDocument/2006/relationships/presProps" Target="/ppt/presProps.xml" Id="R54c8ba928d8b4ef1" /><Relationship Type="http://schemas.openxmlformats.org/officeDocument/2006/relationships/tableStyles" Target="/ppt/tableStyles.xml" Id="R170135f68e4b4ad5" /><Relationship Type="http://schemas.openxmlformats.org/officeDocument/2006/relationships/slide" Target="/ppt/slides/slide1.xml" Id="Rbc3faadc1f544b8e" /><Relationship Type="http://schemas.openxmlformats.org/officeDocument/2006/relationships/slide" Target="/ppt/slides/slide2.xml" Id="R5bdedcacbef9484e" /><Relationship Type="http://schemas.openxmlformats.org/officeDocument/2006/relationships/slide" Target="/ppt/slides/slide3.xml" Id="R35055eaa778041ab" /><Relationship Type="http://schemas.openxmlformats.org/officeDocument/2006/relationships/slide" Target="/ppt/slides/slide4.xml" Id="R5d2d96e1b0af4384" /><Relationship Type="http://schemas.openxmlformats.org/officeDocument/2006/relationships/slide" Target="/ppt/slides/slide5.xml" Id="R363119b8b6224216" /><Relationship Type="http://schemas.openxmlformats.org/officeDocument/2006/relationships/slide" Target="/ppt/slides/slide6.xml" Id="Ref3b9d91a5524072" /><Relationship Type="http://schemas.openxmlformats.org/officeDocument/2006/relationships/slide" Target="/ppt/slides/slide7.xml" Id="Rf693a52dcf85423f" /><Relationship Type="http://schemas.openxmlformats.org/officeDocument/2006/relationships/slide" Target="/ppt/slides/slide8.xml" Id="R7c74e76f747742bf" /><Relationship Type="http://schemas.openxmlformats.org/officeDocument/2006/relationships/slide" Target="/ppt/slides/slide9.xml" Id="R28c93cd14b7a47f1" /><Relationship Type="http://schemas.openxmlformats.org/officeDocument/2006/relationships/slide" Target="/ppt/slides/slide10.xml" Id="R107b3155314040c6" /><Relationship Type="http://schemas.openxmlformats.org/officeDocument/2006/relationships/slide" Target="/ppt/slides/slide11.xml" Id="R18cc50b5f2784518" /><Relationship Type="http://schemas.openxmlformats.org/officeDocument/2006/relationships/slide" Target="/ppt/slides/slide12.xml" Id="R137d9aec905f4bf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8f3ccb3e0f547a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83d82f74974452b" /><Relationship Type="http://schemas.openxmlformats.org/officeDocument/2006/relationships/notesMaster" Target="/ppt/notesMasters/notesMaster1.xml" Id="R411b8aebc8a34874" /></Relationships>
</file>

<file path=ppt/notesSlides/_rels/notesSlide2.xml.rels>&#65279;<?xml version="1.0" encoding="utf-8"?><Relationships xmlns="http://schemas.openxmlformats.org/package/2006/relationships"><Relationship Type="http://schemas.openxmlformats.org/officeDocument/2006/relationships/slide" Target="/ppt/slides/slide2.xml" Id="R738e57ab1c1341f7" /><Relationship Type="http://schemas.openxmlformats.org/officeDocument/2006/relationships/notesMaster" Target="/ppt/notesMasters/notesMaster1.xml" Id="R448cc2c72b124021" /></Relationships>
</file>

<file path=ppt/notesSlides/_rels/notesSlide3.xml.rels>&#65279;<?xml version="1.0" encoding="utf-8"?><Relationships xmlns="http://schemas.openxmlformats.org/package/2006/relationships"><Relationship Type="http://schemas.openxmlformats.org/officeDocument/2006/relationships/slide" Target="/ppt/slides/slide3.xml" Id="Rf06fb1ed997a41e7" /><Relationship Type="http://schemas.openxmlformats.org/officeDocument/2006/relationships/notesMaster" Target="/ppt/notesMasters/notesMaster1.xml" Id="R97bd65310c6c4297" /></Relationships>
</file>

<file path=ppt/notesSlides/_rels/notesSlide4.xml.rels>&#65279;<?xml version="1.0" encoding="utf-8"?><Relationships xmlns="http://schemas.openxmlformats.org/package/2006/relationships"><Relationship Type="http://schemas.openxmlformats.org/officeDocument/2006/relationships/slide" Target="/ppt/slides/slide4.xml" Id="R433f670caf7e4de1" /><Relationship Type="http://schemas.openxmlformats.org/officeDocument/2006/relationships/notesMaster" Target="/ppt/notesMasters/notesMaster1.xml" Id="Rc8debbfab5f1454a" /></Relationships>
</file>

<file path=ppt/notesSlides/_rels/notesSlide5.xml.rels>&#65279;<?xml version="1.0" encoding="utf-8"?><Relationships xmlns="http://schemas.openxmlformats.org/package/2006/relationships"><Relationship Type="http://schemas.openxmlformats.org/officeDocument/2006/relationships/slide" Target="/ppt/slides/slide5.xml" Id="Rcb76e104aa804fc2" /><Relationship Type="http://schemas.openxmlformats.org/officeDocument/2006/relationships/notesMaster" Target="/ppt/notesMasters/notesMaster1.xml" Id="Raec153f22ee641a7" /></Relationships>
</file>

<file path=ppt/notesSlides/_rels/notesSlide6.xml.rels>&#65279;<?xml version="1.0" encoding="utf-8"?><Relationships xmlns="http://schemas.openxmlformats.org/package/2006/relationships"><Relationship Type="http://schemas.openxmlformats.org/officeDocument/2006/relationships/slide" Target="/ppt/slides/slide6.xml" Id="Re2fb521c93ca4078" /><Relationship Type="http://schemas.openxmlformats.org/officeDocument/2006/relationships/notesMaster" Target="/ppt/notesMasters/notesMaster1.xml" Id="Rd680481621b6453c" /></Relationships>
</file>

<file path=ppt/notesSlides/_rels/notesSlide7.xml.rels>&#65279;<?xml version="1.0" encoding="utf-8"?><Relationships xmlns="http://schemas.openxmlformats.org/package/2006/relationships"><Relationship Type="http://schemas.openxmlformats.org/officeDocument/2006/relationships/slide" Target="/ppt/slides/slide7.xml" Id="Rb41851bb5d754c3a" /><Relationship Type="http://schemas.openxmlformats.org/officeDocument/2006/relationships/notesMaster" Target="/ppt/notesMasters/notesMaster1.xml" Id="R951f59ba02834e12" /></Relationships>
</file>

<file path=ppt/notesSlides/_rels/notesSlide8.xml.rels>&#65279;<?xml version="1.0" encoding="utf-8"?><Relationships xmlns="http://schemas.openxmlformats.org/package/2006/relationships"><Relationship Type="http://schemas.openxmlformats.org/officeDocument/2006/relationships/slide" Target="/ppt/slides/slide8.xml" Id="R6e5429f3704c40c4" /><Relationship Type="http://schemas.openxmlformats.org/officeDocument/2006/relationships/notesMaster" Target="/ppt/notesMasters/notesMaster1.xml" Id="R461e6c3489054741" /></Relationships>
</file>

<file path=ppt/notesSlides/_rels/notesSlide9.xml.rels>&#65279;<?xml version="1.0" encoding="utf-8"?><Relationships xmlns="http://schemas.openxmlformats.org/package/2006/relationships"><Relationship Type="http://schemas.openxmlformats.org/officeDocument/2006/relationships/slide" Target="/ppt/slides/slide9.xml" Id="R4288aa7935944b7d" /><Relationship Type="http://schemas.openxmlformats.org/officeDocument/2006/relationships/notesMaster" Target="/ppt/notesMasters/notesMaster1.xml" Id="Rd7248b16b45c4e4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5d2bbc1134d427a" /><Relationship Type="http://schemas.openxmlformats.org/officeDocument/2006/relationships/notesMaster" Target="/ppt/notesMasters/notesMaster1.xml" Id="R40797323330b473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097d319aec6492f" /><Relationship Type="http://schemas.openxmlformats.org/officeDocument/2006/relationships/notesMaster" Target="/ppt/notesMasters/notesMaster1.xml" Id="Rfbf30663e91a49a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375f3029daf44ee" /><Relationship Type="http://schemas.openxmlformats.org/officeDocument/2006/relationships/notesMaster" Target="/ppt/notesMasters/notesMaster1.xml" Id="R2c70e20c0c624c7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 Présenter le besoin : trouver un partenaire compatible et organiser une séance. Annoncer18minutes avec2minutes de marge, dont6minutes de démonstration réelle.</a:t>
            </a:r>
          </a:p>
          <a:p xmlns:a="http://schemas.openxmlformats.org/drawingml/2006/main">
            <a:r>
              <a:t>Sources : documentation du projet, 80-Testing/06-Release-verification.md ; code service1.2.0 (06efed857), UI1.2.0 (962e4ce).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 Relier le besoin aux trois modules. Le cahier des charges couvre UML, JWT, fonctionnalités sociales, événements, médias, fixtures et justification des algorithmes. Les maquettes servent de référence visuelle.</a:t>
            </a:r>
          </a:p>
          <a:p xmlns:a="http://schemas.openxmlformats.org/drawingml/2006/main">
            <a:r>
              <a:t>Sources : documentation du projet, 80-Testing/06-Release-verification.md ; code service1.2.0 (06efed857), UI1.2.0 (962e4ce).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 Le backend est un monolithe modulaire Java 25/Spring Boot4.1.0. PostgreSQL conserve les données ; Redis assure rotation des jetons et publication des messages ; SeaweedFS conserve les objets privés. Pages héberge les deux applications Angular, Caddy termine HTTPS. Le contrat OpenAPI est épinglé par les deux consommateurs.</a:t>
            </a:r>
          </a:p>
          <a:p xmlns:a="http://schemas.openxmlformats.org/drawingml/2006/main">
            <a:r>
              <a:t>Sources : documentation du projet, 80-Testing/06-Release-verification.md ; code service1.2.0 (06efed857), UI1.2.0 (962e4ce).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 de démonstration. Sur le site publié, montrer le profil avec avatar, la publication avec image, puis les commentaires et la visibilité. Utiliser uniquement les comptes de démonstration. En cas de réseau lent, cette capture présente le résultat déjà vérifié. Source : release-image-post.png, compte synthétiqueD.</a:t>
            </a:r>
          </a:p>
          <a:p xmlns:a="http://schemas.openxmlformats.org/drawingml/2006/main">
            <a:r>
              <a:t>Sources : documentation du projet, 80-Testing/06-Release-verification.md ; code service1.2.0 (06efed857), UI1.2.0 (962e4ce).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 de démonstration. Montrer une séance et sa couverture, les invitations privées, la candidature et la décision de l’organisateur. Expliquer la capacité atomique par occurrence, le retrait et les événements hebdomadaires. La capture montre une séance réellement créée sur1.2.0.</a:t>
            </a:r>
          </a:p>
          <a:p xmlns:a="http://schemas.openxmlformats.org/drawingml/2006/main">
            <a:r>
              <a:t>Sources : documentation du projet, 80-Testing/06-Release-verification.md ; code service1.2.0 (06efed857), UI1.2.0 (962e4ce).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 de démonstration. Ouvrir la conversation entre deux amis dans deux profils de navigateur séparés : les onglets partagent le cookie de renouvellement. Préparer le compte du personnel dans un troisième profil si nécessaire. Aucun mot de passe ne figure dans le support. Montrer image reçue sans rechargement et lecture audio sur les deux comptes. Le clip de test dure2,06secondes. Les objets sont privés ; chaque lien signé expire après60secondes. Éviter de recréer inutilement des données.</a:t>
            </a:r>
          </a:p>
          <a:p xmlns:a="http://schemas.openxmlformats.org/drawingml/2006/main">
            <a:r>
              <a:t>Sources : documentation du projet, 80-Testing/06-Release-verification.md ; code service1.2.0 (06efed857), UI1.2.0 (962e4ce).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 Le client ne décide pas des droits. Les services vérifient compte actif, propriétaire, relation et parent du média. Un membre ne peut pas accéder aux fonctions du personnel. L’admin et le modérateur ont des droits distincts ; dernier admin protégé et actions auditées. La première inscription sur une base vide peut devenir admin : initialisation contrôlée.</a:t>
            </a:r>
          </a:p>
          <a:p xmlns:a="http://schemas.openxmlformats.org/drawingml/2006/main">
            <a:r>
              <a:t>Sources : documentation du projet, 80-Testing/06-Release-verification.md ; code service1.2.0 (06efed857), UI1.2.0 (962e4ce).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 Générer au maximum200candidats, éliminer amis, demandes, blocages et exclusions ; calculer le score et trier. m est le score Adamic-Adar des amis communs, normalisé dans [0,1]. J est l’indice de Jaccard des sports : intersection divisée par union. G mesure la proximité géographique, T le chevauchement des horaires et E la compatibilité d’expérience ; chaque terme est borné dans [0,1]. Les poids totalisent1. Vérifier les fonctions exactes dans SuggestionScorer avant les questions. Expliquer la raison principale sur la carte. Les scores sont stockés enPostgreSQL, recalculés la nuit ou à la lecture s’ils sont périmés.</a:t>
            </a:r>
          </a:p>
          <a:p xmlns:a="http://schemas.openxmlformats.org/drawingml/2006/main">
            <a:r>
              <a:t>Sources : documentation du projet, 80-Testing/06-Release-verification.md ; code service1.2.0 (06efed857), UI1.2.0 (962e4ce).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 Construire les arêtes admissibles enO(n²), les trier enO(E log E), puis retenir une arête si ses deux membres sont libres. Approximation1/2 pour poids non négatifs, pas un optimum exact. Le traitement conserve les paires existantes et intègre les nouveaux inscrits. Transaction et verrou de semaine évitent doubles événements et état partiel.</a:t>
            </a:r>
          </a:p>
          <a:p xmlns:a="http://schemas.openxmlformats.org/drawingml/2006/main">
            <a:r>
              <a:t>Sources : documentation du projet, 80-Testing/06-Release-verification.md ; code service1.2.0 (06efed857), UI1.2.0 (962e4ce).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1:30.294testsbackend dans la dernièreCI, intégrationsPostgreSQL/Redis/S3 sansskip. Migration répétée sur volume isolé puis copie finale gelée :23tables, schéma, séquences et contraintes comparés. ScansCRITICALzéro sur les imagesAPI/PostgreSQL/SeaweedFS/Redis examinées. Ce résultat ne prétend pas une sécurité absolue. Les opérations du personnel et médias ont aussi été exercés dans de vrais navigateurs.</a:t>
            </a:r>
          </a:p>
          <a:p xmlns:a="http://schemas.openxmlformats.org/drawingml/2006/main">
            <a:r>
              <a:t>Sources : documentation du projet, 80-Testing/06-Release-verification.md ; code service1.2.0 (06efed857), UI1.2.0 (962e4ce).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 La recherche parcourt et trie les candidats enJava ; les performances sur le jeu complet doivent être mesurées. La récurrence est hebdomadaire enUTC, donc une heure locale peut changer au passage à l’heure d’hiver. Le glouton est une approximation. Les scansCaddy conservent des avisHIGH/MODERATE ; ne pas annoncer zéro vulnérabilité globale.</a:t>
            </a:r>
          </a:p>
          <a:p xmlns:a="http://schemas.openxmlformats.org/drawingml/2006/main">
            <a:r>
              <a:t>Sources : documentation du projet, 80-Testing/06-Release-verification.md ; code service1.2.0 (06efed857), UI1.2.0 (962e4ce).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 Résumer le parcours complet et les preuves dans le dépôt. La présentation préparée dure18minutes et conserve2minutes de marge. Les30minutes de questions suivent. Questions possibles : accès à un média privé, concurrence sur la dernière place, complexité, raison du choixSeaweedFS, différence entre tag et version réellement déployée.</a:t>
            </a:r>
          </a:p>
          <a:p xmlns:a="http://schemas.openxmlformats.org/drawingml/2006/main">
            <a:r>
              <a:t>Sources : documentation du projet, 80-Testing/06-Release-verification.md ; code service1.2.0 (06efed857), UI1.2.0 (962e4ce).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6a4af3de5c24cc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2e41a2c746b435a" /><Relationship Type="http://schemas.openxmlformats.org/officeDocument/2006/relationships/slideLayout" Target="/ppt/slideLayouts/slideLayout1.xml" Id="R0a94c133b23a4e7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a94c133b23a4e7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3b40d6fcabf4cfe" /><Relationship Type="http://schemas.openxmlformats.org/officeDocument/2006/relationships/notesSlide" Target="/ppt/notesSlides/notesSlide1.xml" Id="R9959025abd1041a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dbc025a944b4f13" /><Relationship Type="http://schemas.openxmlformats.org/officeDocument/2006/relationships/notesSlide" Target="/ppt/notesSlides/notesSlide2.xml" Id="R5dc7092bd2b8463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73f11fce5234b8a" /><Relationship Type="http://schemas.openxmlformats.org/officeDocument/2006/relationships/notesSlide" Target="/ppt/notesSlides/notesSlide3.xml" Id="R9ad72383d4144f5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0204faff8264da0" /><Relationship Type="http://schemas.openxmlformats.org/officeDocument/2006/relationships/image" Target="/ppt/media/image.jpeg" Id="R41fac2b5e75643c6" /><Relationship Type="http://schemas.openxmlformats.org/officeDocument/2006/relationships/notesSlide" Target="/ppt/notesSlides/notesSlide4.xml" Id="R788ced9c1c10413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b155b0c46db49f1" /><Relationship Type="http://schemas.openxmlformats.org/officeDocument/2006/relationships/notesSlide" Target="/ppt/notesSlides/notesSlide5.xml" Id="R3a759caa29f0490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0002672e74f4db4" /><Relationship Type="http://schemas.openxmlformats.org/officeDocument/2006/relationships/image" Target="/ppt/media/image2.jpeg" Id="R5be4512e38024ed2" /><Relationship Type="http://schemas.openxmlformats.org/officeDocument/2006/relationships/notesSlide" Target="/ppt/notesSlides/notesSlide6.xml" Id="Rf6117afd889f456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81eef2eac2240e6" /><Relationship Type="http://schemas.openxmlformats.org/officeDocument/2006/relationships/notesSlide" Target="/ppt/notesSlides/notesSlide7.xml" Id="R18bcac6f8ea7450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22d17e7dd574dc5" /><Relationship Type="http://schemas.openxmlformats.org/officeDocument/2006/relationships/notesSlide" Target="/ppt/notesSlides/notesSlide8.xml" Id="Rfef63b68cc1f429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34a8e247046449d" /><Relationship Type="http://schemas.openxmlformats.org/officeDocument/2006/relationships/notesSlide" Target="/ppt/notesSlides/notesSlide9.xml" Id="R3048f91f48504a2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8885f493adb4ec9" /><Relationship Type="http://schemas.openxmlformats.org/officeDocument/2006/relationships/notesSlide" Target="/ppt/notesSlides/notesSlide10.xml" Id="Ree334ff8cf2d482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828f6b89ad44d37" /><Relationship Type="http://schemas.openxmlformats.org/officeDocument/2006/relationships/notesSlide" Target="/ppt/notesSlides/notesSlide11.xml" Id="Ree4fc75604e7405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09b6068f04f4f7a" /><Relationship Type="http://schemas.openxmlformats.org/officeDocument/2006/relationships/notesSlide" Target="/ppt/notesSlides/notesSlide12.xml" Id="R9a7715f397b54491" /></Relationships>
</file>

<file path=ppt/slides/slide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C34ADF2-047A-46E6-8EF7-1290946D4042}"/>
              </a:ext>
            </a:extLst>
          </p:cNvPr>
          <p:cNvSpPr>
            <a:spLocks xmlns:a="http://schemas.openxmlformats.org/drawingml/2006/main" noGrp="1"/>
          </p:cNvSpPr>
          <p:nvPr/>
        </p:nvSpPr>
        <p:spPr>
          <a:xfrm xmlns:a="http://schemas.openxmlformats.org/drawingml/2006/main">
            <a:off x="723900" y="4000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0535B"/>
                </a:solidFill>
                <a:latin typeface="Calibri"/>
                <a:ea typeface="Calibri"/>
                <a:cs typeface="Calibri"/>
              </a:defRPr>
            </a:pPr>
            <a:r>
              <a:rPr sz="1275" b="1">
                <a:solidFill>
                  <a:srgbClr val="00535B"/>
                </a:solidFill>
                <a:latin typeface="Calibri"/>
                <a:ea typeface="Calibri"/>
                <a:cs typeface="Calibri"/>
              </a:rPr>
              <a:t>PROJET DE COMPENSATION ISEP · 5 ECTS</a:t>
            </a:r>
          </a:p>
        </p:txBody>
      </p:sp>
      <p:sp>
        <p:nvSpPr>
          <p:cNvPr id="2" name="">
            <a:extLst xmlns:a="http://schemas.openxmlformats.org/drawingml/2006/main">
              <a:ext uri="{FF2B5EF4-FFF2-40B4-BE49-F238E27FC236}">
                <a16:creationId xmlns:a16="http://schemas.microsoft.com/office/drawing/2014/main" id="{4E52D1EA-8A8E-4212-961F-2A00D9C82EFB}"/>
              </a:ext>
            </a:extLst>
          </p:cNvPr>
          <p:cNvSpPr>
            <a:spLocks xmlns:a="http://schemas.openxmlformats.org/drawingml/2006/main" noGrp="1"/>
          </p:cNvSpPr>
          <p:nvPr/>
        </p:nvSpPr>
        <p:spPr>
          <a:xfrm xmlns:a="http://schemas.openxmlformats.org/drawingml/2006/main">
            <a:off x="723900" y="895350"/>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a:solidFill>
                  <a:srgbClr val="1A1A1A"/>
                </a:solidFill>
                <a:latin typeface="Georgia"/>
                <a:ea typeface="Georgia"/>
                <a:cs typeface="Georgia"/>
              </a:defRPr>
            </a:pPr>
            <a:r>
              <a:rPr sz="3225">
                <a:solidFill>
                  <a:srgbClr val="1A1A1A"/>
                </a:solidFill>
                <a:latin typeface="Georgia"/>
                <a:ea typeface="Georgia"/>
                <a:cs typeface="Georgia"/>
              </a:rPr>
              <a:t>Gym Buddies</a:t>
            </a:r>
          </a:p>
        </p:txBody>
      </p:sp>
      <p:sp>
        <p:nvSpPr>
          <p:cNvPr id="3" name="">
            <a:extLst xmlns:a="http://schemas.openxmlformats.org/drawingml/2006/main">
              <a:ext uri="{FF2B5EF4-FFF2-40B4-BE49-F238E27FC236}">
                <a16:creationId xmlns:a16="http://schemas.microsoft.com/office/drawing/2014/main" id="{FE33FB4B-14E9-49BE-83CB-80D9D4A86942}"/>
              </a:ext>
            </a:extLst>
          </p:cNvPr>
          <p:cNvSpPr>
            <a:spLocks xmlns:a="http://schemas.openxmlformats.org/drawingml/2006/main" noGrp="1"/>
          </p:cNvSpPr>
          <p:nvPr/>
        </p:nvSpPr>
        <p:spPr>
          <a:xfrm xmlns:a="http://schemas.openxmlformats.org/drawingml/2006/main">
            <a:off x="723900" y="63436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596262"/>
                </a:solidFill>
                <a:latin typeface="Calibri"/>
                <a:ea typeface="Calibri"/>
                <a:cs typeface="Calibri"/>
              </a:defRPr>
            </a:pPr>
            <a:r>
              <a:rPr sz="1125">
                <a:solidFill>
                  <a:srgbClr val="596262"/>
                </a:solidFill>
                <a:latin typeface="Calibri"/>
                <a:ea typeface="Calibri"/>
                <a:cs typeface="Calibri"/>
              </a:rPr>
              <a:t>Gym Buddies · Version 1.2.0 · 14 septembre 2026</a:t>
            </a:r>
          </a:p>
        </p:txBody>
      </p:sp>
      <p:sp>
        <p:nvSpPr>
          <p:cNvPr id="4" name="">
            <a:extLst xmlns:a="http://schemas.openxmlformats.org/drawingml/2006/main">
              <a:ext uri="{FF2B5EF4-FFF2-40B4-BE49-F238E27FC236}">
                <a16:creationId xmlns:a16="http://schemas.microsoft.com/office/drawing/2014/main" id="{F95FF4FE-B175-4A1F-A58E-39A8487954EA}"/>
              </a:ext>
            </a:extLst>
          </p:cNvPr>
          <p:cNvSpPr>
            <a:spLocks xmlns:a="http://schemas.openxmlformats.org/drawingml/2006/main" noGrp="1"/>
          </p:cNvSpPr>
          <p:nvPr/>
        </p:nvSpPr>
        <p:spPr>
          <a:xfrm xmlns:a="http://schemas.openxmlformats.org/drawingml/2006/main">
            <a:off x="11049000" y="63436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596262"/>
                </a:solidFill>
                <a:latin typeface="Calibri"/>
                <a:ea typeface="Calibri"/>
                <a:cs typeface="Calibri"/>
              </a:defRPr>
            </a:pPr>
            <a:r>
              <a:rPr sz="1125">
                <a:solidFill>
                  <a:srgbClr val="596262"/>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2F48339-946A-4965-84C4-228B18F38530}"/>
              </a:ext>
            </a:extLst>
          </p:cNvPr>
          <p:cNvSpPr>
            <a:spLocks xmlns:a="http://schemas.openxmlformats.org/drawingml/2006/main" noGrp="1"/>
          </p:cNvSpPr>
          <p:nvPr/>
        </p:nvSpPr>
        <p:spPr>
          <a:xfrm xmlns:a="http://schemas.openxmlformats.org/drawingml/2006/main">
            <a:off x="762000" y="27241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a:solidFill>
                  <a:srgbClr val="1A1A1A"/>
                </a:solidFill>
                <a:latin typeface="Calibri"/>
                <a:ea typeface="Calibri"/>
                <a:cs typeface="Calibri"/>
              </a:defRPr>
            </a:pPr>
            <a:r>
              <a:rPr sz="2700">
                <a:solidFill>
                  <a:srgbClr val="1A1A1A"/>
                </a:solidFill>
                <a:latin typeface="Calibri"/>
                <a:ea typeface="Calibri"/>
                <a:cs typeface="Calibri"/>
              </a:rPr>
              <a:t>Trouver un partenaire et organiser une séance</a:t>
            </a:r>
          </a:p>
        </p:txBody>
      </p:sp>
      <p:sp>
        <p:nvSpPr>
          <p:cNvPr id="6" name="">
            <a:extLst xmlns:a="http://schemas.openxmlformats.org/drawingml/2006/main">
              <a:ext uri="{FF2B5EF4-FFF2-40B4-BE49-F238E27FC236}">
                <a16:creationId xmlns:a16="http://schemas.microsoft.com/office/drawing/2014/main" id="{D6DC9ECE-88B5-4D0C-9247-1996F79EDAFE}"/>
              </a:ext>
            </a:extLst>
          </p:cNvPr>
          <p:cNvSpPr>
            <a:spLocks xmlns:a="http://schemas.openxmlformats.org/drawingml/2006/main" noGrp="1"/>
          </p:cNvSpPr>
          <p:nvPr/>
        </p:nvSpPr>
        <p:spPr>
          <a:xfrm xmlns:a="http://schemas.openxmlformats.org/drawingml/2006/main">
            <a:off x="762000" y="41243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a:solidFill>
                  <a:srgbClr val="1A1A1A"/>
                </a:solidFill>
                <a:latin typeface="Calibri"/>
                <a:ea typeface="Calibri"/>
                <a:cs typeface="Calibri"/>
              </a:defRPr>
            </a:pPr>
            <a:r>
              <a:rPr sz="2025">
                <a:solidFill>
                  <a:srgbClr val="1A1A1A"/>
                </a:solidFill>
                <a:latin typeface="Calibri"/>
                <a:ea typeface="Calibri"/>
                <a:cs typeface="Calibri"/>
              </a:rPr>
              <a:t>Joaquim Kéloglanian</a:t>
            </a:r>
          </a:p>
        </p:txBody>
      </p:sp>
      <p:sp>
        <p:nvSpPr>
          <p:cNvPr id="7" name="">
            <a:extLst xmlns:a="http://schemas.openxmlformats.org/drawingml/2006/main">
              <a:ext uri="{FF2B5EF4-FFF2-40B4-BE49-F238E27FC236}">
                <a16:creationId xmlns:a16="http://schemas.microsoft.com/office/drawing/2014/main" id="{F6FFDACE-9A19-410E-B3DA-8BA0F16EE43C}"/>
              </a:ext>
            </a:extLst>
          </p:cNvPr>
          <p:cNvSpPr>
            <a:spLocks xmlns:a="http://schemas.openxmlformats.org/drawingml/2006/main" noGrp="1"/>
          </p:cNvSpPr>
          <p:nvPr/>
        </p:nvSpPr>
        <p:spPr>
          <a:xfrm xmlns:a="http://schemas.openxmlformats.org/drawingml/2006/main">
            <a:off x="762000" y="481012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a:solidFill>
                  <a:srgbClr val="596262"/>
                </a:solidFill>
                <a:latin typeface="Calibri"/>
                <a:ea typeface="Calibri"/>
                <a:cs typeface="Calibri"/>
              </a:defRPr>
            </a:pPr>
            <a:r>
              <a:rPr sz="1800">
                <a:solidFill>
                  <a:srgbClr val="596262"/>
                </a:solidFill>
                <a:latin typeface="Calibri"/>
                <a:ea typeface="Calibri"/>
                <a:cs typeface="Calibri"/>
              </a:rPr>
              <a:t>18 minutes de présentation et démonstration · 2 minutes de marge</a:t>
            </a:r>
          </a:p>
        </p:txBody>
      </p:sp>
    </p:spTree>
    <p:extLst>
      <p:ext uri="{BB962C8B-B14F-4D97-AF65-F5344CB8AC3E}">
        <p14:creationId xmlns:p14="http://schemas.microsoft.com/office/powerpoint/2010/main" val="833820618"/>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17D36F8-756B-45E7-BED0-9976F132F517}"/>
              </a:ext>
            </a:extLst>
          </p:cNvPr>
          <p:cNvSpPr>
            <a:spLocks xmlns:a="http://schemas.openxmlformats.org/drawingml/2006/main" noGrp="1"/>
          </p:cNvSpPr>
          <p:nvPr/>
        </p:nvSpPr>
        <p:spPr>
          <a:xfrm xmlns:a="http://schemas.openxmlformats.org/drawingml/2006/main">
            <a:off x="723900" y="4000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0535B"/>
                </a:solidFill>
                <a:latin typeface="Calibri"/>
                <a:ea typeface="Calibri"/>
                <a:cs typeface="Calibri"/>
              </a:defRPr>
            </a:pPr>
            <a:r>
              <a:rPr sz="1275" b="1">
                <a:solidFill>
                  <a:srgbClr val="00535B"/>
                </a:solidFill>
                <a:latin typeface="Calibri"/>
                <a:ea typeface="Calibri"/>
                <a:cs typeface="Calibri"/>
              </a:rPr>
              <a:t>PÉRIMÈTRE · 1 MINUTE</a:t>
            </a:r>
          </a:p>
        </p:txBody>
      </p:sp>
      <p:sp>
        <p:nvSpPr>
          <p:cNvPr id="2" name="">
            <a:extLst xmlns:a="http://schemas.openxmlformats.org/drawingml/2006/main">
              <a:ext uri="{FF2B5EF4-FFF2-40B4-BE49-F238E27FC236}">
                <a16:creationId xmlns:a16="http://schemas.microsoft.com/office/drawing/2014/main" id="{FEC76B6E-7037-4133-A445-21EE23BB5A60}"/>
              </a:ext>
            </a:extLst>
          </p:cNvPr>
          <p:cNvSpPr>
            <a:spLocks xmlns:a="http://schemas.openxmlformats.org/drawingml/2006/main" noGrp="1"/>
          </p:cNvSpPr>
          <p:nvPr/>
        </p:nvSpPr>
        <p:spPr>
          <a:xfrm xmlns:a="http://schemas.openxmlformats.org/drawingml/2006/main">
            <a:off x="723900" y="895350"/>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a:solidFill>
                  <a:srgbClr val="1A1A1A"/>
                </a:solidFill>
                <a:latin typeface="Georgia"/>
                <a:ea typeface="Georgia"/>
                <a:cs typeface="Georgia"/>
              </a:defRPr>
            </a:pPr>
            <a:r>
              <a:rPr sz="3225">
                <a:solidFill>
                  <a:srgbClr val="1A1A1A"/>
                </a:solidFill>
                <a:latin typeface="Georgia"/>
                <a:ea typeface="Georgia"/>
                <a:cs typeface="Georgia"/>
              </a:rPr>
              <a:t>Un besoin sportif, un projet complet</a:t>
            </a:r>
          </a:p>
        </p:txBody>
      </p:sp>
      <p:sp>
        <p:nvSpPr>
          <p:cNvPr id="3" name="">
            <a:extLst xmlns:a="http://schemas.openxmlformats.org/drawingml/2006/main">
              <a:ext uri="{FF2B5EF4-FFF2-40B4-BE49-F238E27FC236}">
                <a16:creationId xmlns:a16="http://schemas.microsoft.com/office/drawing/2014/main" id="{C0636768-C42E-407D-848B-F2BD9CC992F5}"/>
              </a:ext>
            </a:extLst>
          </p:cNvPr>
          <p:cNvSpPr>
            <a:spLocks xmlns:a="http://schemas.openxmlformats.org/drawingml/2006/main" noGrp="1"/>
          </p:cNvSpPr>
          <p:nvPr/>
        </p:nvSpPr>
        <p:spPr>
          <a:xfrm xmlns:a="http://schemas.openxmlformats.org/drawingml/2006/main">
            <a:off x="723900" y="63436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596262"/>
                </a:solidFill>
                <a:latin typeface="Calibri"/>
                <a:ea typeface="Calibri"/>
                <a:cs typeface="Calibri"/>
              </a:defRPr>
            </a:pPr>
            <a:r>
              <a:rPr sz="1125">
                <a:solidFill>
                  <a:srgbClr val="596262"/>
                </a:solidFill>
                <a:latin typeface="Calibri"/>
                <a:ea typeface="Calibri"/>
                <a:cs typeface="Calibri"/>
              </a:rPr>
              <a:t>Gym Buddies · Version 1.2.0 · 14 septembre 2026</a:t>
            </a:r>
          </a:p>
        </p:txBody>
      </p:sp>
      <p:sp>
        <p:nvSpPr>
          <p:cNvPr id="4" name="">
            <a:extLst xmlns:a="http://schemas.openxmlformats.org/drawingml/2006/main">
              <a:ext uri="{FF2B5EF4-FFF2-40B4-BE49-F238E27FC236}">
                <a16:creationId xmlns:a16="http://schemas.microsoft.com/office/drawing/2014/main" id="{78A2B443-6C60-499F-B133-8A1730731C6B}"/>
              </a:ext>
            </a:extLst>
          </p:cNvPr>
          <p:cNvSpPr>
            <a:spLocks xmlns:a="http://schemas.openxmlformats.org/drawingml/2006/main" noGrp="1"/>
          </p:cNvSpPr>
          <p:nvPr/>
        </p:nvSpPr>
        <p:spPr>
          <a:xfrm xmlns:a="http://schemas.openxmlformats.org/drawingml/2006/main">
            <a:off x="11049000" y="63436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596262"/>
                </a:solidFill>
                <a:latin typeface="Calibri"/>
                <a:ea typeface="Calibri"/>
                <a:cs typeface="Calibri"/>
              </a:defRPr>
            </a:pPr>
            <a:r>
              <a:rPr sz="1125">
                <a:solidFill>
                  <a:srgbClr val="596262"/>
                </a:solidFill>
                <a:latin typeface="Calibri"/>
                <a:ea typeface="Calibri"/>
                <a:cs typeface="Calibri"/>
              </a:rPr>
              <a:t>02</a:t>
            </a:r>
          </a:p>
        </p:txBody>
      </p:sp>
      <p:sp>
        <p:nvSpPr>
          <p:cNvPr id="5" name="">
            <a:extLst xmlns:a="http://schemas.openxmlformats.org/drawingml/2006/main">
              <a:ext uri="{FF2B5EF4-FFF2-40B4-BE49-F238E27FC236}">
                <a16:creationId xmlns:a16="http://schemas.microsoft.com/office/drawing/2014/main" id="{F8F0227B-CC12-44DC-A02C-7284EDC26E72}"/>
              </a:ext>
            </a:extLst>
          </p:cNvPr>
          <p:cNvSpPr>
            <a:spLocks xmlns:a="http://schemas.openxmlformats.org/drawingml/2006/main" noGrp="1"/>
          </p:cNvSpPr>
          <p:nvPr/>
        </p:nvSpPr>
        <p:spPr>
          <a:xfrm xmlns:a="http://schemas.openxmlformats.org/drawingml/2006/main">
            <a:off x="781050" y="209550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a:solidFill>
                  <a:srgbClr val="1A1A1A"/>
                </a:solidFill>
                <a:latin typeface="Calibri"/>
                <a:ea typeface="Calibri"/>
                <a:cs typeface="Calibri"/>
              </a:defRPr>
            </a:pPr>
            <a:r>
              <a:rPr sz="2175">
                <a:solidFill>
                  <a:srgbClr val="1A1A1A"/>
                </a:solidFill>
                <a:latin typeface="Calibri"/>
                <a:ea typeface="Calibri"/>
                <a:cs typeface="Calibri"/>
              </a:rPr>
              <a:t>Génie logiciel : architecture, UML, migrations et tests.</a:t>
            </a:r>
          </a:p>
        </p:txBody>
      </p:sp>
      <p:sp>
        <p:nvSpPr>
          <p:cNvPr id="6" name="">
            <a:extLst xmlns:a="http://schemas.openxmlformats.org/drawingml/2006/main">
              <a:ext uri="{FF2B5EF4-FFF2-40B4-BE49-F238E27FC236}">
                <a16:creationId xmlns:a16="http://schemas.microsoft.com/office/drawing/2014/main" id="{C687F231-717E-47C9-B33C-C2F8F2BF5369}"/>
              </a:ext>
            </a:extLst>
          </p:cNvPr>
          <p:cNvSpPr>
            <a:spLocks xmlns:a="http://schemas.openxmlformats.org/drawingml/2006/main" noGrp="1"/>
          </p:cNvSpPr>
          <p:nvPr/>
        </p:nvSpPr>
        <p:spPr>
          <a:xfrm xmlns:a="http://schemas.openxmlformats.org/drawingml/2006/main">
            <a:off x="781050" y="293370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a:solidFill>
                  <a:srgbClr val="1A1A1A"/>
                </a:solidFill>
                <a:latin typeface="Calibri"/>
                <a:ea typeface="Calibri"/>
                <a:cs typeface="Calibri"/>
              </a:defRPr>
            </a:pPr>
            <a:r>
              <a:rPr sz="2175">
                <a:solidFill>
                  <a:srgbClr val="1A1A1A"/>
                </a:solidFill>
                <a:latin typeface="Calibri"/>
                <a:ea typeface="Calibri"/>
                <a:cs typeface="Calibri"/>
              </a:rPr>
              <a:t>Technologies web : Angular, API versionnée, JWT et temps réel.</a:t>
            </a:r>
          </a:p>
        </p:txBody>
      </p:sp>
      <p:sp>
        <p:nvSpPr>
          <p:cNvPr id="7" name="">
            <a:extLst xmlns:a="http://schemas.openxmlformats.org/drawingml/2006/main">
              <a:ext uri="{FF2B5EF4-FFF2-40B4-BE49-F238E27FC236}">
                <a16:creationId xmlns:a16="http://schemas.microsoft.com/office/drawing/2014/main" id="{44B86A48-0594-48FE-84BD-626B9FFF588A}"/>
              </a:ext>
            </a:extLst>
          </p:cNvPr>
          <p:cNvSpPr>
            <a:spLocks xmlns:a="http://schemas.openxmlformats.org/drawingml/2006/main" noGrp="1"/>
          </p:cNvSpPr>
          <p:nvPr/>
        </p:nvSpPr>
        <p:spPr>
          <a:xfrm xmlns:a="http://schemas.openxmlformats.org/drawingml/2006/main">
            <a:off x="781050" y="377190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a:solidFill>
                  <a:srgbClr val="1A1A1A"/>
                </a:solidFill>
                <a:latin typeface="Calibri"/>
                <a:ea typeface="Calibri"/>
                <a:cs typeface="Calibri"/>
              </a:defRPr>
            </a:pPr>
            <a:r>
              <a:rPr sz="2175">
                <a:solidFill>
                  <a:srgbClr val="1A1A1A"/>
                </a:solidFill>
                <a:latin typeface="Calibri"/>
                <a:ea typeface="Calibri"/>
                <a:cs typeface="Calibri"/>
              </a:rPr>
              <a:t>Algorithmique : suggestions, recherche filtrée et appariement.</a:t>
            </a:r>
          </a:p>
        </p:txBody>
      </p:sp>
      <p:sp>
        <p:nvSpPr>
          <p:cNvPr id="8" name="">
            <a:extLst xmlns:a="http://schemas.openxmlformats.org/drawingml/2006/main">
              <a:ext uri="{FF2B5EF4-FFF2-40B4-BE49-F238E27FC236}">
                <a16:creationId xmlns:a16="http://schemas.microsoft.com/office/drawing/2014/main" id="{8D42B020-2C4D-48CC-871C-2E5AB5A1E7F8}"/>
              </a:ext>
            </a:extLst>
          </p:cNvPr>
          <p:cNvSpPr>
            <a:spLocks xmlns:a="http://schemas.openxmlformats.org/drawingml/2006/main" noGrp="1"/>
          </p:cNvSpPr>
          <p:nvPr/>
        </p:nvSpPr>
        <p:spPr>
          <a:xfrm xmlns:a="http://schemas.openxmlformats.org/drawingml/2006/main">
            <a:off x="781050" y="461010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a:solidFill>
                  <a:srgbClr val="1A1A1A"/>
                </a:solidFill>
                <a:latin typeface="Calibri"/>
                <a:ea typeface="Calibri"/>
                <a:cs typeface="Calibri"/>
              </a:defRPr>
            </a:pPr>
            <a:r>
              <a:rPr sz="2175">
                <a:solidFill>
                  <a:srgbClr val="1A1A1A"/>
                </a:solidFill>
                <a:latin typeface="Calibri"/>
                <a:ea typeface="Calibri"/>
                <a:cs typeface="Calibri"/>
              </a:rPr>
              <a:t>Un parcours : profil → relation → séance → conversation.</a:t>
            </a:r>
          </a:p>
        </p:txBody>
      </p:sp>
    </p:spTree>
    <p:extLst>
      <p:ext uri="{BB962C8B-B14F-4D97-AF65-F5344CB8AC3E}">
        <p14:creationId xmlns:p14="http://schemas.microsoft.com/office/powerpoint/2010/main" val="2112526296"/>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1711703-F455-425E-B387-47D623A75A96}"/>
              </a:ext>
            </a:extLst>
          </p:cNvPr>
          <p:cNvSpPr>
            <a:spLocks xmlns:a="http://schemas.openxmlformats.org/drawingml/2006/main" noGrp="1"/>
          </p:cNvSpPr>
          <p:nvPr/>
        </p:nvSpPr>
        <p:spPr>
          <a:xfrm xmlns:a="http://schemas.openxmlformats.org/drawingml/2006/main">
            <a:off x="723900" y="4000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0535B"/>
                </a:solidFill>
                <a:latin typeface="Calibri"/>
                <a:ea typeface="Calibri"/>
                <a:cs typeface="Calibri"/>
              </a:defRPr>
            </a:pPr>
            <a:r>
              <a:rPr sz="1275" b="1">
                <a:solidFill>
                  <a:srgbClr val="00535B"/>
                </a:solidFill>
                <a:latin typeface="Calibri"/>
                <a:ea typeface="Calibri"/>
                <a:cs typeface="Calibri"/>
              </a:rPr>
              <a:t>ARCHITECTURE · 2 MINUTES</a:t>
            </a:r>
          </a:p>
        </p:txBody>
      </p:sp>
      <p:sp>
        <p:nvSpPr>
          <p:cNvPr id="2" name="">
            <a:extLst xmlns:a="http://schemas.openxmlformats.org/drawingml/2006/main">
              <a:ext uri="{FF2B5EF4-FFF2-40B4-BE49-F238E27FC236}">
                <a16:creationId xmlns:a16="http://schemas.microsoft.com/office/drawing/2014/main" id="{E16DC8BF-3F22-4888-A0B5-C65F8CB00519}"/>
              </a:ext>
            </a:extLst>
          </p:cNvPr>
          <p:cNvSpPr>
            <a:spLocks xmlns:a="http://schemas.openxmlformats.org/drawingml/2006/main" noGrp="1"/>
          </p:cNvSpPr>
          <p:nvPr/>
        </p:nvSpPr>
        <p:spPr>
          <a:xfrm xmlns:a="http://schemas.openxmlformats.org/drawingml/2006/main">
            <a:off x="723900" y="895350"/>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a:solidFill>
                  <a:srgbClr val="1A1A1A"/>
                </a:solidFill>
                <a:latin typeface="Georgia"/>
                <a:ea typeface="Georgia"/>
                <a:cs typeface="Georgia"/>
              </a:defRPr>
            </a:pPr>
            <a:r>
              <a:rPr sz="3225">
                <a:solidFill>
                  <a:srgbClr val="1A1A1A"/>
                </a:solidFill>
                <a:latin typeface="Georgia"/>
                <a:ea typeface="Georgia"/>
                <a:cs typeface="Georgia"/>
              </a:rPr>
              <a:t>Quatre dépôts, une API métier</a:t>
            </a:r>
          </a:p>
        </p:txBody>
      </p:sp>
      <p:sp>
        <p:nvSpPr>
          <p:cNvPr id="3" name="">
            <a:extLst xmlns:a="http://schemas.openxmlformats.org/drawingml/2006/main">
              <a:ext uri="{FF2B5EF4-FFF2-40B4-BE49-F238E27FC236}">
                <a16:creationId xmlns:a16="http://schemas.microsoft.com/office/drawing/2014/main" id="{1BFACCEE-4E90-4B25-BCE0-F560FF1BF7D1}"/>
              </a:ext>
            </a:extLst>
          </p:cNvPr>
          <p:cNvSpPr>
            <a:spLocks xmlns:a="http://schemas.openxmlformats.org/drawingml/2006/main" noGrp="1"/>
          </p:cNvSpPr>
          <p:nvPr/>
        </p:nvSpPr>
        <p:spPr>
          <a:xfrm xmlns:a="http://schemas.openxmlformats.org/drawingml/2006/main">
            <a:off x="723900" y="63436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596262"/>
                </a:solidFill>
                <a:latin typeface="Calibri"/>
                <a:ea typeface="Calibri"/>
                <a:cs typeface="Calibri"/>
              </a:defRPr>
            </a:pPr>
            <a:r>
              <a:rPr sz="1125">
                <a:solidFill>
                  <a:srgbClr val="596262"/>
                </a:solidFill>
                <a:latin typeface="Calibri"/>
                <a:ea typeface="Calibri"/>
                <a:cs typeface="Calibri"/>
              </a:rPr>
              <a:t>Gym Buddies · Version 1.2.0 · 14 septembre 2026</a:t>
            </a:r>
          </a:p>
        </p:txBody>
      </p:sp>
      <p:sp>
        <p:nvSpPr>
          <p:cNvPr id="4" name="">
            <a:extLst xmlns:a="http://schemas.openxmlformats.org/drawingml/2006/main">
              <a:ext uri="{FF2B5EF4-FFF2-40B4-BE49-F238E27FC236}">
                <a16:creationId xmlns:a16="http://schemas.microsoft.com/office/drawing/2014/main" id="{255DEAA3-5956-4753-B980-48C679905B8A}"/>
              </a:ext>
            </a:extLst>
          </p:cNvPr>
          <p:cNvSpPr>
            <a:spLocks xmlns:a="http://schemas.openxmlformats.org/drawingml/2006/main" noGrp="1"/>
          </p:cNvSpPr>
          <p:nvPr/>
        </p:nvSpPr>
        <p:spPr>
          <a:xfrm xmlns:a="http://schemas.openxmlformats.org/drawingml/2006/main">
            <a:off x="11049000" y="63436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596262"/>
                </a:solidFill>
                <a:latin typeface="Calibri"/>
                <a:ea typeface="Calibri"/>
                <a:cs typeface="Calibri"/>
              </a:defRPr>
            </a:pPr>
            <a:r>
              <a:rPr sz="1125">
                <a:solidFill>
                  <a:srgbClr val="596262"/>
                </a:solidFill>
                <a:latin typeface="Calibri"/>
                <a:ea typeface="Calibri"/>
                <a:cs typeface="Calibri"/>
              </a:rPr>
              <a:t>03</a:t>
            </a:r>
          </a:p>
        </p:txBody>
      </p:sp>
      <p:graphicFrame>
        <p:nvGraphicFramePr>
          <p:cNvPr id="11" name=""/>
          <p:cNvGraphicFramePr/>
          <p:nvPr/>
        </p:nvGraphicFramePr>
        <p:xfrm>
          <a:off xmlns:a="http://schemas.openxmlformats.org/drawingml/2006/main" x="762000" y="2095500"/>
          <a:ext xmlns:a="http://schemas.openxmlformats.org/drawingml/2006/main" cx="10668000" cy="3429000"/>
        </p:xfrm>
        <a:graphic xmlns:a="http://schemas.openxmlformats.org/drawingml/2006/main">
          <a:graphicData uri="http://schemas.openxmlformats.org/drawingml/2006/table">
            <a:tbl>
              <a:tblPr/>
              <a:tblGrid>
                <a:gridCol w="5334000"/>
                <a:gridCol w="5334000"/>
              </a:tblGrid>
              <a:tr h="685800">
                <a:tc>
                  <a:txBody>
                    <a:bodyPr/>
                    <a:lstStyle/>
                    <a:p>
                      <a:r>
                        <a:rPr sz="1875" b="1">
                          <a:solidFill>
                            <a:srgbClr val="FFFFFF"/>
                          </a:solidFill>
                          <a:latin typeface="Calibri"/>
                          <a:ea typeface="Calibri"/>
                          <a:cs typeface="Calibri"/>
                        </a:rPr>
                        <a:t>Dépôt</a:t>
                      </a:r>
                    </a:p>
                  </a:txBody>
                  <a:tcPr marL="91440" marR="91440" marT="45720" marB="45720">
                    <a:solidFill>
                      <a:srgbClr val="00535B"/>
                    </a:solidFill>
                  </a:tcPr>
                </a:tc>
                <a:tc>
                  <a:txBody>
                    <a:bodyPr/>
                    <a:lstStyle/>
                    <a:p>
                      <a:r>
                        <a:rPr sz="1875" b="1">
                          <a:solidFill>
                            <a:srgbClr val="FFFFFF"/>
                          </a:solidFill>
                          <a:latin typeface="Calibri"/>
                          <a:ea typeface="Calibri"/>
                          <a:cs typeface="Calibri"/>
                        </a:rPr>
                        <a:t>Responsabilité</a:t>
                      </a:r>
                    </a:p>
                  </a:txBody>
                  <a:tcPr marL="91440" marR="91440" marT="45720" marB="45720">
                    <a:solidFill>
                      <a:srgbClr val="00535B"/>
                    </a:solidFill>
                  </a:tcPr>
                </a:tc>
              </a:tr>
              <a:tr h="685800">
                <a:tc>
                  <a:txBody>
                    <a:bodyPr/>
                    <a:lstStyle/>
                    <a:p>
                      <a:r>
                        <a:rPr sz="1875" b="0">
                          <a:solidFill>
                            <a:srgbClr val="1A1A1A"/>
                          </a:solidFill>
                          <a:latin typeface="Calibri"/>
                          <a:ea typeface="Calibri"/>
                          <a:cs typeface="Calibri"/>
                        </a:rPr>
                        <a:t>documentation</a:t>
                      </a:r>
                    </a:p>
                  </a:txBody>
                  <a:tcPr marL="91440" marR="91440" marT="45720" marB="45720">
                    <a:solidFill>
                      <a:srgbClr val="F7F5F0"/>
                    </a:solidFill>
                  </a:tcPr>
                </a:tc>
                <a:tc>
                  <a:txBody>
                    <a:bodyPr/>
                    <a:lstStyle/>
                    <a:p>
                      <a:r>
                        <a:rPr sz="1875" b="0">
                          <a:solidFill>
                            <a:srgbClr val="1A1A1A"/>
                          </a:solidFill>
                          <a:latin typeface="Calibri"/>
                          <a:ea typeface="Calibri"/>
                          <a:cs typeface="Calibri"/>
                        </a:rPr>
                        <a:t>Spécifications, maquettes, UML et analyse</a:t>
                      </a:r>
                    </a:p>
                  </a:txBody>
                  <a:tcPr marL="91440" marR="91440" marT="45720" marB="45720">
                    <a:solidFill>
                      <a:srgbClr val="F7F5F0"/>
                    </a:solidFill>
                  </a:tcPr>
                </a:tc>
              </a:tr>
              <a:tr h="685800">
                <a:tc>
                  <a:txBody>
                    <a:bodyPr/>
                    <a:lstStyle/>
                    <a:p>
                      <a:r>
                        <a:rPr sz="1875" b="0">
                          <a:solidFill>
                            <a:srgbClr val="1A1A1A"/>
                          </a:solidFill>
                          <a:latin typeface="Calibri"/>
                          <a:ea typeface="Calibri"/>
                          <a:cs typeface="Calibri"/>
                        </a:rPr>
                        <a:t>openapi</a:t>
                      </a:r>
                    </a:p>
                  </a:txBody>
                  <a:tcPr marL="91440" marR="91440" marT="45720" marB="45720">
                    <a:solidFill>
                      <a:srgbClr val="F7F5F0"/>
                    </a:solidFill>
                  </a:tcPr>
                </a:tc>
                <a:tc>
                  <a:txBody>
                    <a:bodyPr/>
                    <a:lstStyle/>
                    <a:p>
                      <a:r>
                        <a:rPr sz="1875" b="0">
                          <a:solidFill>
                            <a:srgbClr val="1A1A1A"/>
                          </a:solidFill>
                          <a:latin typeface="Calibri"/>
                          <a:ea typeface="Calibri"/>
                          <a:cs typeface="Calibri"/>
                        </a:rPr>
                        <a:t>Contrat HTTP partagé et versionné</a:t>
                      </a:r>
                    </a:p>
                  </a:txBody>
                  <a:tcPr marL="91440" marR="91440" marT="45720" marB="45720">
                    <a:solidFill>
                      <a:srgbClr val="F7F5F0"/>
                    </a:solidFill>
                  </a:tcPr>
                </a:tc>
              </a:tr>
              <a:tr h="685800">
                <a:tc>
                  <a:txBody>
                    <a:bodyPr/>
                    <a:lstStyle/>
                    <a:p>
                      <a:r>
                        <a:rPr sz="1875" b="0">
                          <a:solidFill>
                            <a:srgbClr val="1A1A1A"/>
                          </a:solidFill>
                          <a:latin typeface="Calibri"/>
                          <a:ea typeface="Calibri"/>
                          <a:cs typeface="Calibri"/>
                        </a:rPr>
                        <a:t>service</a:t>
                      </a:r>
                    </a:p>
                  </a:txBody>
                  <a:tcPr marL="91440" marR="91440" marT="45720" marB="45720">
                    <a:solidFill>
                      <a:srgbClr val="F7F5F0"/>
                    </a:solidFill>
                  </a:tcPr>
                </a:tc>
                <a:tc>
                  <a:txBody>
                    <a:bodyPr/>
                    <a:lstStyle/>
                    <a:p>
                      <a:r>
                        <a:rPr sz="1875" b="0">
                          <a:solidFill>
                            <a:srgbClr val="1A1A1A"/>
                          </a:solidFill>
                          <a:latin typeface="Calibri"/>
                          <a:ea typeface="Calibri"/>
                          <a:cs typeface="Calibri"/>
                        </a:rPr>
                        <a:t>Java 25, Spring Boot, JDBC et Flyway</a:t>
                      </a:r>
                    </a:p>
                  </a:txBody>
                  <a:tcPr marL="91440" marR="91440" marT="45720" marB="45720">
                    <a:solidFill>
                      <a:srgbClr val="F7F5F0"/>
                    </a:solidFill>
                  </a:tcPr>
                </a:tc>
              </a:tr>
              <a:tr h="685800">
                <a:tc>
                  <a:txBody>
                    <a:bodyPr/>
                    <a:lstStyle/>
                    <a:p>
                      <a:r>
                        <a:rPr sz="1875" b="0">
                          <a:solidFill>
                            <a:srgbClr val="1A1A1A"/>
                          </a:solidFill>
                          <a:latin typeface="Calibri"/>
                          <a:ea typeface="Calibri"/>
                          <a:cs typeface="Calibri"/>
                        </a:rPr>
                        <a:t>ui</a:t>
                      </a:r>
                    </a:p>
                  </a:txBody>
                  <a:tcPr marL="91440" marR="91440" marT="45720" marB="45720">
                    <a:solidFill>
                      <a:srgbClr val="F7F5F0"/>
                    </a:solidFill>
                  </a:tcPr>
                </a:tc>
                <a:tc>
                  <a:txBody>
                    <a:bodyPr/>
                    <a:lstStyle/>
                    <a:p>
                      <a:r>
                        <a:rPr sz="1875" b="0">
                          <a:solidFill>
                            <a:srgbClr val="1A1A1A"/>
                          </a:solidFill>
                          <a:latin typeface="Calibri"/>
                          <a:ea typeface="Calibri"/>
                          <a:cs typeface="Calibri"/>
                        </a:rPr>
                        <a:t>Applications Angular membre et personnel</a:t>
                      </a:r>
                    </a:p>
                  </a:txBody>
                  <a:tcPr marL="91440" marR="91440" marT="45720" marB="45720">
                    <a:solidFill>
                      <a:srgbClr val="F7F5F0"/>
                    </a:solidFill>
                  </a:tcPr>
                </a:tc>
              </a:tr>
            </a:tbl>
          </a:graphicData>
        </a:graphic>
      </p:graphicFrame>
      <p:sp>
        <p:nvSpPr>
          <p:cNvPr id="6" name="">
            <a:extLst xmlns:a="http://schemas.openxmlformats.org/drawingml/2006/main">
              <a:ext uri="{FF2B5EF4-FFF2-40B4-BE49-F238E27FC236}">
                <a16:creationId xmlns:a16="http://schemas.microsoft.com/office/drawing/2014/main" id="{50226D5D-D6F7-43A7-B49A-E5EF4018EE0E}"/>
              </a:ext>
            </a:extLst>
          </p:cNvPr>
          <p:cNvSpPr>
            <a:spLocks xmlns:a="http://schemas.openxmlformats.org/drawingml/2006/main" noGrp="1"/>
          </p:cNvSpPr>
          <p:nvPr/>
        </p:nvSpPr>
        <p:spPr>
          <a:xfrm xmlns:a="http://schemas.openxmlformats.org/drawingml/2006/main">
            <a:off x="762000" y="57721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a:solidFill>
                  <a:srgbClr val="00535B"/>
                </a:solidFill>
                <a:latin typeface="Calibri"/>
                <a:ea typeface="Calibri"/>
                <a:cs typeface="Calibri"/>
              </a:defRPr>
            </a:pPr>
            <a:r>
              <a:rPr sz="1800">
                <a:solidFill>
                  <a:srgbClr val="00535B"/>
                </a:solidFill>
                <a:latin typeface="Calibri"/>
                <a:ea typeface="Calibri"/>
                <a:cs typeface="Calibri"/>
              </a:rPr>
              <a:t>PostgreSQL · Redis · SeaweedFS privé · HTTPS via Caddy</a:t>
            </a:r>
          </a:p>
        </p:txBody>
      </p:sp>
    </p:spTree>
    <p:extLst>
      <p:ext uri="{BB962C8B-B14F-4D97-AF65-F5344CB8AC3E}">
        <p14:creationId xmlns:p14="http://schemas.microsoft.com/office/powerpoint/2010/main" val="928653557"/>
      </p:ext>
    </p:extLst>
  </p:cSld>
</p:sld>
</file>

<file path=ppt/slides/slide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4FAB795-AB4A-4858-B520-E899F4B86CFE}"/>
              </a:ext>
            </a:extLst>
          </p:cNvPr>
          <p:cNvSpPr>
            <a:spLocks xmlns:a="http://schemas.openxmlformats.org/drawingml/2006/main" noGrp="1"/>
          </p:cNvSpPr>
          <p:nvPr/>
        </p:nvSpPr>
        <p:spPr>
          <a:xfrm xmlns:a="http://schemas.openxmlformats.org/drawingml/2006/main">
            <a:off x="723900" y="4000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0535B"/>
                </a:solidFill>
                <a:latin typeface="Calibri"/>
                <a:ea typeface="Calibri"/>
                <a:cs typeface="Calibri"/>
              </a:defRPr>
            </a:pPr>
            <a:r>
              <a:rPr sz="1275" b="1">
                <a:solidFill>
                  <a:srgbClr val="00535B"/>
                </a:solidFill>
                <a:latin typeface="Calibri"/>
                <a:ea typeface="Calibri"/>
                <a:cs typeface="Calibri"/>
              </a:rPr>
              <a:t>DÉMONSTRATION 1 · 2 MINUTES</a:t>
            </a:r>
          </a:p>
        </p:txBody>
      </p:sp>
      <p:sp>
        <p:nvSpPr>
          <p:cNvPr id="2" name="">
            <a:extLst xmlns:a="http://schemas.openxmlformats.org/drawingml/2006/main">
              <a:ext uri="{FF2B5EF4-FFF2-40B4-BE49-F238E27FC236}">
                <a16:creationId xmlns:a16="http://schemas.microsoft.com/office/drawing/2014/main" id="{A8D0240D-4344-4554-8612-889E4F0BBEC7}"/>
              </a:ext>
            </a:extLst>
          </p:cNvPr>
          <p:cNvSpPr>
            <a:spLocks xmlns:a="http://schemas.openxmlformats.org/drawingml/2006/main" noGrp="1"/>
          </p:cNvSpPr>
          <p:nvPr/>
        </p:nvSpPr>
        <p:spPr>
          <a:xfrm xmlns:a="http://schemas.openxmlformats.org/drawingml/2006/main">
            <a:off x="723900" y="895350"/>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a:solidFill>
                  <a:srgbClr val="1A1A1A"/>
                </a:solidFill>
                <a:latin typeface="Georgia"/>
                <a:ea typeface="Georgia"/>
                <a:cs typeface="Georgia"/>
              </a:defRPr>
            </a:pPr>
            <a:r>
              <a:rPr sz="3225">
                <a:solidFill>
                  <a:srgbClr val="1A1A1A"/>
                </a:solidFill>
                <a:latin typeface="Georgia"/>
                <a:ea typeface="Georgia"/>
                <a:cs typeface="Georgia"/>
              </a:rPr>
              <a:t>Profil et publication</a:t>
            </a:r>
          </a:p>
        </p:txBody>
      </p:sp>
      <p:sp>
        <p:nvSpPr>
          <p:cNvPr id="3" name="">
            <a:extLst xmlns:a="http://schemas.openxmlformats.org/drawingml/2006/main">
              <a:ext uri="{FF2B5EF4-FFF2-40B4-BE49-F238E27FC236}">
                <a16:creationId xmlns:a16="http://schemas.microsoft.com/office/drawing/2014/main" id="{F615778C-161B-4863-9837-D88E366B66B6}"/>
              </a:ext>
            </a:extLst>
          </p:cNvPr>
          <p:cNvSpPr>
            <a:spLocks xmlns:a="http://schemas.openxmlformats.org/drawingml/2006/main" noGrp="1"/>
          </p:cNvSpPr>
          <p:nvPr/>
        </p:nvSpPr>
        <p:spPr>
          <a:xfrm xmlns:a="http://schemas.openxmlformats.org/drawingml/2006/main">
            <a:off x="723900" y="63436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596262"/>
                </a:solidFill>
                <a:latin typeface="Calibri"/>
                <a:ea typeface="Calibri"/>
                <a:cs typeface="Calibri"/>
              </a:defRPr>
            </a:pPr>
            <a:r>
              <a:rPr sz="1125">
                <a:solidFill>
                  <a:srgbClr val="596262"/>
                </a:solidFill>
                <a:latin typeface="Calibri"/>
                <a:ea typeface="Calibri"/>
                <a:cs typeface="Calibri"/>
              </a:rPr>
              <a:t>Gym Buddies · Version 1.2.0 · 14 septembre 2026</a:t>
            </a:r>
          </a:p>
        </p:txBody>
      </p:sp>
      <p:sp>
        <p:nvSpPr>
          <p:cNvPr id="4" name="">
            <a:extLst xmlns:a="http://schemas.openxmlformats.org/drawingml/2006/main">
              <a:ext uri="{FF2B5EF4-FFF2-40B4-BE49-F238E27FC236}">
                <a16:creationId xmlns:a16="http://schemas.microsoft.com/office/drawing/2014/main" id="{2E080FFD-50E9-47F7-9C7A-091016B4CCF2}"/>
              </a:ext>
            </a:extLst>
          </p:cNvPr>
          <p:cNvSpPr>
            <a:spLocks xmlns:a="http://schemas.openxmlformats.org/drawingml/2006/main" noGrp="1"/>
          </p:cNvSpPr>
          <p:nvPr/>
        </p:nvSpPr>
        <p:spPr>
          <a:xfrm xmlns:a="http://schemas.openxmlformats.org/drawingml/2006/main">
            <a:off x="11049000" y="63436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596262"/>
                </a:solidFill>
                <a:latin typeface="Calibri"/>
                <a:ea typeface="Calibri"/>
                <a:cs typeface="Calibri"/>
              </a:defRPr>
            </a:pPr>
            <a:r>
              <a:rPr sz="1125">
                <a:solidFill>
                  <a:srgbClr val="596262"/>
                </a:solidFill>
                <a:latin typeface="Calibri"/>
                <a:ea typeface="Calibri"/>
                <a:cs typeface="Calibri"/>
              </a:rPr>
              <a:t>04</a:t>
            </a:r>
          </a:p>
        </p:txBody>
      </p:sp>
      <p:sp>
        <p:nvSpPr>
          <p:cNvPr id="5" name="">
            <a:extLst xmlns:a="http://schemas.openxmlformats.org/drawingml/2006/main">
              <a:ext uri="{FF2B5EF4-FFF2-40B4-BE49-F238E27FC236}">
                <a16:creationId xmlns:a16="http://schemas.microsoft.com/office/drawing/2014/main" id="{EA26708C-7C9B-4D22-84FB-22546CF068EC}"/>
              </a:ext>
            </a:extLst>
          </p:cNvPr>
          <p:cNvSpPr>
            <a:spLocks xmlns:a="http://schemas.openxmlformats.org/drawingml/2006/main" noGrp="1"/>
          </p:cNvSpPr>
          <p:nvPr/>
        </p:nvSpPr>
        <p:spPr>
          <a:xfrm xmlns:a="http://schemas.openxmlformats.org/drawingml/2006/main">
            <a:off x="762000" y="2400300"/>
            <a:ext cx="33813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a:solidFill>
                  <a:srgbClr val="1A1A1A"/>
                </a:solidFill>
                <a:latin typeface="Calibri"/>
                <a:ea typeface="Calibri"/>
                <a:cs typeface="Calibri"/>
              </a:defRPr>
            </a:pPr>
            <a:r>
              <a:rPr sz="2175">
                <a:solidFill>
                  <a:srgbClr val="1A1A1A"/>
                </a:solidFill>
                <a:latin typeface="Calibri"/>
                <a:ea typeface="Calibri"/>
                <a:cs typeface="Calibri"/>
              </a:rPr>
              <a:t>Avatar enregistré</a:t>
            </a:r>
          </a:p>
          <a:p xmlns:a="http://schemas.openxmlformats.org/drawingml/2006/main">
            <a:r>
              <a:t/>
            </a:r>
          </a:p>
          <a:p xmlns:a="http://schemas.openxmlformats.org/drawingml/2006/main">
            <a:pPr>
              <a:defRPr sz="2175">
                <a:solidFill>
                  <a:srgbClr val="1A1A1A"/>
                </a:solidFill>
                <a:latin typeface="Calibri"/>
                <a:ea typeface="Calibri"/>
                <a:cs typeface="Calibri"/>
              </a:defRPr>
            </a:pPr>
            <a:r>
              <a:rPr sz="2175">
                <a:solidFill>
                  <a:srgbClr val="1A1A1A"/>
                </a:solidFill>
                <a:latin typeface="Calibri"/>
                <a:ea typeface="Calibri"/>
                <a:cs typeface="Calibri"/>
              </a:rPr>
              <a:t>Publication avec image</a:t>
            </a:r>
          </a:p>
          <a:p xmlns:a="http://schemas.openxmlformats.org/drawingml/2006/main">
            <a:r>
              <a:t/>
            </a:r>
          </a:p>
          <a:p xmlns:a="http://schemas.openxmlformats.org/drawingml/2006/main">
            <a:pPr>
              <a:defRPr sz="2175">
                <a:solidFill>
                  <a:srgbClr val="1A1A1A"/>
                </a:solidFill>
                <a:latin typeface="Calibri"/>
                <a:ea typeface="Calibri"/>
                <a:cs typeface="Calibri"/>
              </a:defRPr>
            </a:pPr>
            <a:r>
              <a:rPr sz="2175">
                <a:solidFill>
                  <a:srgbClr val="1A1A1A"/>
                </a:solidFill>
                <a:latin typeface="Calibri"/>
                <a:ea typeface="Calibri"/>
                <a:cs typeface="Calibri"/>
              </a:rPr>
              <a:t>Visibilité contrôlée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41fac2b5e75643c6"/>
          <a:srcRect xmlns:a="http://schemas.openxmlformats.org/drawingml/2006/main" l="16957" t="0" r="16957" b="0"/>
          <a:stretch xmlns:a="http://schemas.openxmlformats.org/drawingml/2006/main">
            <a:fillRect l="0" t="0" r="0" b="0"/>
          </a:stretch>
        </p:blipFill>
        <p:spPr>
          <a:xfrm xmlns:a="http://schemas.openxmlformats.org/drawingml/2006/main">
            <a:off x="4476750" y="2076450"/>
            <a:ext cx="6953250" cy="3943350"/>
          </a:xfrm>
          <a:prstGeom xmlns:a="http://schemas.openxmlformats.org/drawingml/2006/main" prst="rect">
            <a:avLst/>
          </a:prstGeom>
        </p:spPr>
      </p:pic>
    </p:spTree>
    <p:extLst>
      <p:ext uri="{BB962C8B-B14F-4D97-AF65-F5344CB8AC3E}">
        <p14:creationId xmlns:p14="http://schemas.microsoft.com/office/powerpoint/2010/main" val="2021998435"/>
      </p:ext>
    </p:extLst>
  </p:cSld>
</p:sld>
</file>

<file path=ppt/slides/slide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98C2D5E-D431-4D00-94E1-4481767EA06C}"/>
              </a:ext>
            </a:extLst>
          </p:cNvPr>
          <p:cNvSpPr>
            <a:spLocks xmlns:a="http://schemas.openxmlformats.org/drawingml/2006/main" noGrp="1"/>
          </p:cNvSpPr>
          <p:nvPr/>
        </p:nvSpPr>
        <p:spPr>
          <a:xfrm xmlns:a="http://schemas.openxmlformats.org/drawingml/2006/main">
            <a:off x="723900" y="4000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0535B"/>
                </a:solidFill>
                <a:latin typeface="Calibri"/>
                <a:ea typeface="Calibri"/>
                <a:cs typeface="Calibri"/>
              </a:defRPr>
            </a:pPr>
            <a:r>
              <a:rPr sz="1275" b="1">
                <a:solidFill>
                  <a:srgbClr val="00535B"/>
                </a:solidFill>
                <a:latin typeface="Calibri"/>
                <a:ea typeface="Calibri"/>
                <a:cs typeface="Calibri"/>
              </a:rPr>
              <a:t>DÉMONSTRATION 2 · 2 MINUTES</a:t>
            </a:r>
          </a:p>
        </p:txBody>
      </p:sp>
      <p:sp>
        <p:nvSpPr>
          <p:cNvPr id="2" name="">
            <a:extLst xmlns:a="http://schemas.openxmlformats.org/drawingml/2006/main">
              <a:ext uri="{FF2B5EF4-FFF2-40B4-BE49-F238E27FC236}">
                <a16:creationId xmlns:a16="http://schemas.microsoft.com/office/drawing/2014/main" id="{47517F39-801E-422F-805E-B6F6A3D47312}"/>
              </a:ext>
            </a:extLst>
          </p:cNvPr>
          <p:cNvSpPr>
            <a:spLocks xmlns:a="http://schemas.openxmlformats.org/drawingml/2006/main" noGrp="1"/>
          </p:cNvSpPr>
          <p:nvPr/>
        </p:nvSpPr>
        <p:spPr>
          <a:xfrm xmlns:a="http://schemas.openxmlformats.org/drawingml/2006/main">
            <a:off x="723900" y="895350"/>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a:solidFill>
                  <a:srgbClr val="1A1A1A"/>
                </a:solidFill>
                <a:latin typeface="Georgia"/>
                <a:ea typeface="Georgia"/>
                <a:cs typeface="Georgia"/>
              </a:defRPr>
            </a:pPr>
            <a:r>
              <a:rPr sz="3225">
                <a:solidFill>
                  <a:srgbClr val="1A1A1A"/>
                </a:solidFill>
                <a:latin typeface="Georgia"/>
                <a:ea typeface="Georgia"/>
                <a:cs typeface="Georgia"/>
              </a:rPr>
              <a:t>Organiser et rejoindre une séance</a:t>
            </a:r>
          </a:p>
        </p:txBody>
      </p:sp>
      <p:sp>
        <p:nvSpPr>
          <p:cNvPr id="3" name="">
            <a:extLst xmlns:a="http://schemas.openxmlformats.org/drawingml/2006/main">
              <a:ext uri="{FF2B5EF4-FFF2-40B4-BE49-F238E27FC236}">
                <a16:creationId xmlns:a16="http://schemas.microsoft.com/office/drawing/2014/main" id="{7655FEED-2CFF-49EB-9C69-4DC12AF1AEF0}"/>
              </a:ext>
            </a:extLst>
          </p:cNvPr>
          <p:cNvSpPr>
            <a:spLocks xmlns:a="http://schemas.openxmlformats.org/drawingml/2006/main" noGrp="1"/>
          </p:cNvSpPr>
          <p:nvPr/>
        </p:nvSpPr>
        <p:spPr>
          <a:xfrm xmlns:a="http://schemas.openxmlformats.org/drawingml/2006/main">
            <a:off x="723900" y="63436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596262"/>
                </a:solidFill>
                <a:latin typeface="Calibri"/>
                <a:ea typeface="Calibri"/>
                <a:cs typeface="Calibri"/>
              </a:defRPr>
            </a:pPr>
            <a:r>
              <a:rPr sz="1125">
                <a:solidFill>
                  <a:srgbClr val="596262"/>
                </a:solidFill>
                <a:latin typeface="Calibri"/>
                <a:ea typeface="Calibri"/>
                <a:cs typeface="Calibri"/>
              </a:rPr>
              <a:t>Gym Buddies · Version 1.2.0 · 14 septembre 2026</a:t>
            </a:r>
          </a:p>
        </p:txBody>
      </p:sp>
      <p:sp>
        <p:nvSpPr>
          <p:cNvPr id="4" name="">
            <a:extLst xmlns:a="http://schemas.openxmlformats.org/drawingml/2006/main">
              <a:ext uri="{FF2B5EF4-FFF2-40B4-BE49-F238E27FC236}">
                <a16:creationId xmlns:a16="http://schemas.microsoft.com/office/drawing/2014/main" id="{A061B6E4-7F27-43A6-8E41-2CAA268D18A5}"/>
              </a:ext>
            </a:extLst>
          </p:cNvPr>
          <p:cNvSpPr>
            <a:spLocks xmlns:a="http://schemas.openxmlformats.org/drawingml/2006/main" noGrp="1"/>
          </p:cNvSpPr>
          <p:nvPr/>
        </p:nvSpPr>
        <p:spPr>
          <a:xfrm xmlns:a="http://schemas.openxmlformats.org/drawingml/2006/main">
            <a:off x="11049000" y="63436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596262"/>
                </a:solidFill>
                <a:latin typeface="Calibri"/>
                <a:ea typeface="Calibri"/>
                <a:cs typeface="Calibri"/>
              </a:defRPr>
            </a:pPr>
            <a:r>
              <a:rPr sz="1125">
                <a:solidFill>
                  <a:srgbClr val="596262"/>
                </a:solidFill>
                <a:latin typeface="Calibri"/>
                <a:ea typeface="Calibri"/>
                <a:cs typeface="Calibri"/>
              </a:rPr>
              <a:t>05</a:t>
            </a:r>
          </a:p>
        </p:txBody>
      </p:sp>
      <p:graphicFrame>
        <p:nvGraphicFramePr>
          <p:cNvPr id="10" name=""/>
          <p:cNvGraphicFramePr/>
          <p:nvPr/>
        </p:nvGraphicFramePr>
        <p:xfrm>
          <a:off xmlns:a="http://schemas.openxmlformats.org/drawingml/2006/main" x="762000" y="2095500"/>
          <a:ext xmlns:a="http://schemas.openxmlformats.org/drawingml/2006/main" cx="10668000" cy="3429000"/>
        </p:xfrm>
        <a:graphic xmlns:a="http://schemas.openxmlformats.org/drawingml/2006/main">
          <a:graphicData uri="http://schemas.openxmlformats.org/drawingml/2006/table">
            <a:tbl>
              <a:tblPr/>
              <a:tblGrid>
                <a:gridCol w="5334000"/>
                <a:gridCol w="5334000"/>
              </a:tblGrid>
              <a:tr h="685800">
                <a:tc>
                  <a:txBody>
                    <a:bodyPr/>
                    <a:lstStyle/>
                    <a:p>
                      <a:r>
                        <a:rPr sz="1875" b="1">
                          <a:solidFill>
                            <a:srgbClr val="FFFFFF"/>
                          </a:solidFill>
                          <a:latin typeface="Calibri"/>
                          <a:ea typeface="Calibri"/>
                          <a:cs typeface="Calibri"/>
                        </a:rPr>
                        <a:t>Action</a:t>
                      </a:r>
                    </a:p>
                  </a:txBody>
                  <a:tcPr marL="91440" marR="91440" marT="45720" marB="45720">
                    <a:solidFill>
                      <a:srgbClr val="00535B"/>
                    </a:solidFill>
                  </a:tcPr>
                </a:tc>
                <a:tc>
                  <a:txBody>
                    <a:bodyPr/>
                    <a:lstStyle/>
                    <a:p>
                      <a:r>
                        <a:rPr sz="1875" b="1">
                          <a:solidFill>
                            <a:srgbClr val="FFFFFF"/>
                          </a:solidFill>
                          <a:latin typeface="Calibri"/>
                          <a:ea typeface="Calibri"/>
                          <a:cs typeface="Calibri"/>
                        </a:rPr>
                        <a:t>Effet</a:t>
                      </a:r>
                    </a:p>
                  </a:txBody>
                  <a:tcPr marL="91440" marR="91440" marT="45720" marB="45720">
                    <a:solidFill>
                      <a:srgbClr val="00535B"/>
                    </a:solidFill>
                  </a:tcPr>
                </a:tc>
              </a:tr>
              <a:tr h="685800">
                <a:tc>
                  <a:txBody>
                    <a:bodyPr/>
                    <a:lstStyle/>
                    <a:p>
                      <a:r>
                        <a:rPr sz="1875" b="0">
                          <a:solidFill>
                            <a:srgbClr val="1A1A1A"/>
                          </a:solidFill>
                          <a:latin typeface="Calibri"/>
                          <a:ea typeface="Calibri"/>
                          <a:cs typeface="Calibri"/>
                        </a:rPr>
                        <a:t>Créer</a:t>
                      </a:r>
                    </a:p>
                  </a:txBody>
                  <a:tcPr marL="91440" marR="91440" marT="45720" marB="45720">
                    <a:solidFill>
                      <a:srgbClr val="F7F5F0"/>
                    </a:solidFill>
                  </a:tcPr>
                </a:tc>
                <a:tc>
                  <a:txBody>
                    <a:bodyPr/>
                    <a:lstStyle/>
                    <a:p>
                      <a:r>
                        <a:rPr sz="1875" b="0">
                          <a:solidFill>
                            <a:srgbClr val="1A1A1A"/>
                          </a:solidFill>
                          <a:latin typeface="Calibri"/>
                          <a:ea typeface="Calibri"/>
                          <a:cs typeface="Calibri"/>
                        </a:rPr>
                        <a:t>Lieu, date, activité, couverture</a:t>
                      </a:r>
                    </a:p>
                  </a:txBody>
                  <a:tcPr marL="91440" marR="91440" marT="45720" marB="45720">
                    <a:solidFill>
                      <a:srgbClr val="F7F5F0"/>
                    </a:solidFill>
                  </a:tcPr>
                </a:tc>
              </a:tr>
              <a:tr h="685800">
                <a:tc>
                  <a:txBody>
                    <a:bodyPr/>
                    <a:lstStyle/>
                    <a:p>
                      <a:r>
                        <a:rPr sz="1875" b="0">
                          <a:solidFill>
                            <a:srgbClr val="1A1A1A"/>
                          </a:solidFill>
                          <a:latin typeface="Calibri"/>
                          <a:ea typeface="Calibri"/>
                          <a:cs typeface="Calibri"/>
                        </a:rPr>
                        <a:t>Candidater</a:t>
                      </a:r>
                    </a:p>
                  </a:txBody>
                  <a:tcPr marL="91440" marR="91440" marT="45720" marB="45720">
                    <a:solidFill>
                      <a:srgbClr val="F7F5F0"/>
                    </a:solidFill>
                  </a:tcPr>
                </a:tc>
                <a:tc>
                  <a:txBody>
                    <a:bodyPr/>
                    <a:lstStyle/>
                    <a:p>
                      <a:r>
                        <a:rPr sz="1875" b="0">
                          <a:solidFill>
                            <a:srgbClr val="1A1A1A"/>
                          </a:solidFill>
                          <a:latin typeface="Calibri"/>
                          <a:ea typeface="Calibri"/>
                          <a:cs typeface="Calibri"/>
                        </a:rPr>
                        <a:t>Demande en attente</a:t>
                      </a:r>
                    </a:p>
                  </a:txBody>
                  <a:tcPr marL="91440" marR="91440" marT="45720" marB="45720">
                    <a:solidFill>
                      <a:srgbClr val="F7F5F0"/>
                    </a:solidFill>
                  </a:tcPr>
                </a:tc>
              </a:tr>
              <a:tr h="685800">
                <a:tc>
                  <a:txBody>
                    <a:bodyPr/>
                    <a:lstStyle/>
                    <a:p>
                      <a:r>
                        <a:rPr sz="1875" b="0">
                          <a:solidFill>
                            <a:srgbClr val="1A1A1A"/>
                          </a:solidFill>
                          <a:latin typeface="Calibri"/>
                          <a:ea typeface="Calibri"/>
                          <a:cs typeface="Calibri"/>
                        </a:rPr>
                        <a:t>Accepter</a:t>
                      </a:r>
                    </a:p>
                  </a:txBody>
                  <a:tcPr marL="91440" marR="91440" marT="45720" marB="45720">
                    <a:solidFill>
                      <a:srgbClr val="F7F5F0"/>
                    </a:solidFill>
                  </a:tcPr>
                </a:tc>
                <a:tc>
                  <a:txBody>
                    <a:bodyPr/>
                    <a:lstStyle/>
                    <a:p>
                      <a:r>
                        <a:rPr sz="1875" b="0">
                          <a:solidFill>
                            <a:srgbClr val="1A1A1A"/>
                          </a:solidFill>
                          <a:latin typeface="Calibri"/>
                          <a:ea typeface="Calibri"/>
                          <a:cs typeface="Calibri"/>
                        </a:rPr>
                        <a:t>Place réservée</a:t>
                      </a:r>
                    </a:p>
                  </a:txBody>
                  <a:tcPr marL="91440" marR="91440" marT="45720" marB="45720">
                    <a:solidFill>
                      <a:srgbClr val="F7F5F0"/>
                    </a:solidFill>
                  </a:tcPr>
                </a:tc>
              </a:tr>
              <a:tr h="685800">
                <a:tc>
                  <a:txBody>
                    <a:bodyPr/>
                    <a:lstStyle/>
                    <a:p>
                      <a:r>
                        <a:rPr sz="1875" b="0">
                          <a:solidFill>
                            <a:srgbClr val="1A1A1A"/>
                          </a:solidFill>
                          <a:latin typeface="Calibri"/>
                          <a:ea typeface="Calibri"/>
                          <a:cs typeface="Calibri"/>
                        </a:rPr>
                        <a:t>Retirer</a:t>
                      </a:r>
                    </a:p>
                  </a:txBody>
                  <a:tcPr marL="91440" marR="91440" marT="45720" marB="45720">
                    <a:solidFill>
                      <a:srgbClr val="F7F5F0"/>
                    </a:solidFill>
                  </a:tcPr>
                </a:tc>
                <a:tc>
                  <a:txBody>
                    <a:bodyPr/>
                    <a:lstStyle/>
                    <a:p>
                      <a:r>
                        <a:rPr sz="1875" b="0">
                          <a:solidFill>
                            <a:srgbClr val="1A1A1A"/>
                          </a:solidFill>
                          <a:latin typeface="Calibri"/>
                          <a:ea typeface="Calibri"/>
                          <a:cs typeface="Calibri"/>
                        </a:rPr>
                        <a:t>Place libérée</a:t>
                      </a:r>
                    </a:p>
                  </a:txBody>
                  <a:tcPr marL="91440" marR="91440" marT="45720" marB="45720">
                    <a:solidFill>
                      <a:srgbClr val="F7F5F0"/>
                    </a:solidFill>
                  </a:tcPr>
                </a:tc>
              </a:tr>
            </a:tbl>
          </a:graphicData>
        </a:graphic>
      </p:graphicFrame>
    </p:spTree>
    <p:extLst>
      <p:ext uri="{BB962C8B-B14F-4D97-AF65-F5344CB8AC3E}">
        <p14:creationId xmlns:p14="http://schemas.microsoft.com/office/powerpoint/2010/main" val="371838131"/>
      </p:ext>
    </p:extLst>
  </p:cSld>
</p:sld>
</file>

<file path=ppt/slides/slide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B06B792-F831-4051-A0A6-8B7EB397315A}"/>
              </a:ext>
            </a:extLst>
          </p:cNvPr>
          <p:cNvSpPr>
            <a:spLocks xmlns:a="http://schemas.openxmlformats.org/drawingml/2006/main" noGrp="1"/>
          </p:cNvSpPr>
          <p:nvPr/>
        </p:nvSpPr>
        <p:spPr>
          <a:xfrm xmlns:a="http://schemas.openxmlformats.org/drawingml/2006/main">
            <a:off x="723900" y="4000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0535B"/>
                </a:solidFill>
                <a:latin typeface="Calibri"/>
                <a:ea typeface="Calibri"/>
                <a:cs typeface="Calibri"/>
              </a:defRPr>
            </a:pPr>
            <a:r>
              <a:rPr sz="1275" b="1">
                <a:solidFill>
                  <a:srgbClr val="00535B"/>
                </a:solidFill>
                <a:latin typeface="Calibri"/>
                <a:ea typeface="Calibri"/>
                <a:cs typeface="Calibri"/>
              </a:rPr>
              <a:t>DÉMONSTRATION 3 · 2 MINUTES</a:t>
            </a:r>
          </a:p>
        </p:txBody>
      </p:sp>
      <p:sp>
        <p:nvSpPr>
          <p:cNvPr id="2" name="">
            <a:extLst xmlns:a="http://schemas.openxmlformats.org/drawingml/2006/main">
              <a:ext uri="{FF2B5EF4-FFF2-40B4-BE49-F238E27FC236}">
                <a16:creationId xmlns:a16="http://schemas.microsoft.com/office/drawing/2014/main" id="{44913E8D-E45A-4834-8CD4-8873ABA63111}"/>
              </a:ext>
            </a:extLst>
          </p:cNvPr>
          <p:cNvSpPr>
            <a:spLocks xmlns:a="http://schemas.openxmlformats.org/drawingml/2006/main" noGrp="1"/>
          </p:cNvSpPr>
          <p:nvPr/>
        </p:nvSpPr>
        <p:spPr>
          <a:xfrm xmlns:a="http://schemas.openxmlformats.org/drawingml/2006/main">
            <a:off x="723900" y="895350"/>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a:solidFill>
                  <a:srgbClr val="1A1A1A"/>
                </a:solidFill>
                <a:latin typeface="Georgia"/>
                <a:ea typeface="Georgia"/>
                <a:cs typeface="Georgia"/>
              </a:defRPr>
            </a:pPr>
            <a:r>
              <a:rPr sz="3225">
                <a:solidFill>
                  <a:srgbClr val="1A1A1A"/>
                </a:solidFill>
                <a:latin typeface="Georgia"/>
                <a:ea typeface="Georgia"/>
                <a:cs typeface="Georgia"/>
              </a:rPr>
              <a:t>Échanger un message et un média</a:t>
            </a:r>
          </a:p>
        </p:txBody>
      </p:sp>
      <p:sp>
        <p:nvSpPr>
          <p:cNvPr id="3" name="">
            <a:extLst xmlns:a="http://schemas.openxmlformats.org/drawingml/2006/main">
              <a:ext uri="{FF2B5EF4-FFF2-40B4-BE49-F238E27FC236}">
                <a16:creationId xmlns:a16="http://schemas.microsoft.com/office/drawing/2014/main" id="{A430DDE7-219F-455C-BDE4-BA2C4A9BE433}"/>
              </a:ext>
            </a:extLst>
          </p:cNvPr>
          <p:cNvSpPr>
            <a:spLocks xmlns:a="http://schemas.openxmlformats.org/drawingml/2006/main" noGrp="1"/>
          </p:cNvSpPr>
          <p:nvPr/>
        </p:nvSpPr>
        <p:spPr>
          <a:xfrm xmlns:a="http://schemas.openxmlformats.org/drawingml/2006/main">
            <a:off x="723900" y="63436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596262"/>
                </a:solidFill>
                <a:latin typeface="Calibri"/>
                <a:ea typeface="Calibri"/>
                <a:cs typeface="Calibri"/>
              </a:defRPr>
            </a:pPr>
            <a:r>
              <a:rPr sz="1125">
                <a:solidFill>
                  <a:srgbClr val="596262"/>
                </a:solidFill>
                <a:latin typeface="Calibri"/>
                <a:ea typeface="Calibri"/>
                <a:cs typeface="Calibri"/>
              </a:rPr>
              <a:t>Gym Buddies · Version 1.2.0 · 14 septembre 2026</a:t>
            </a:r>
          </a:p>
        </p:txBody>
      </p:sp>
      <p:sp>
        <p:nvSpPr>
          <p:cNvPr id="4" name="">
            <a:extLst xmlns:a="http://schemas.openxmlformats.org/drawingml/2006/main">
              <a:ext uri="{FF2B5EF4-FFF2-40B4-BE49-F238E27FC236}">
                <a16:creationId xmlns:a16="http://schemas.microsoft.com/office/drawing/2014/main" id="{B68404CB-FE11-4317-81BB-0E59BF638670}"/>
              </a:ext>
            </a:extLst>
          </p:cNvPr>
          <p:cNvSpPr>
            <a:spLocks xmlns:a="http://schemas.openxmlformats.org/drawingml/2006/main" noGrp="1"/>
          </p:cNvSpPr>
          <p:nvPr/>
        </p:nvSpPr>
        <p:spPr>
          <a:xfrm xmlns:a="http://schemas.openxmlformats.org/drawingml/2006/main">
            <a:off x="11049000" y="63436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596262"/>
                </a:solidFill>
                <a:latin typeface="Calibri"/>
                <a:ea typeface="Calibri"/>
                <a:cs typeface="Calibri"/>
              </a:defRPr>
            </a:pPr>
            <a:r>
              <a:rPr sz="1125">
                <a:solidFill>
                  <a:srgbClr val="596262"/>
                </a:solidFill>
                <a:latin typeface="Calibri"/>
                <a:ea typeface="Calibri"/>
                <a:cs typeface="Calibri"/>
              </a:rPr>
              <a:t>06</a:t>
            </a:r>
          </a:p>
        </p:txBody>
      </p:sp>
      <p:sp>
        <p:nvSpPr>
          <p:cNvPr id="5" name="">
            <a:extLst xmlns:a="http://schemas.openxmlformats.org/drawingml/2006/main">
              <a:ext uri="{FF2B5EF4-FFF2-40B4-BE49-F238E27FC236}">
                <a16:creationId xmlns:a16="http://schemas.microsoft.com/office/drawing/2014/main" id="{5C63B91B-BB6B-4D19-974E-2A8B8DC5EEA4}"/>
              </a:ext>
            </a:extLst>
          </p:cNvPr>
          <p:cNvSpPr>
            <a:spLocks xmlns:a="http://schemas.openxmlformats.org/drawingml/2006/main" noGrp="1"/>
          </p:cNvSpPr>
          <p:nvPr/>
        </p:nvSpPr>
        <p:spPr>
          <a:xfrm xmlns:a="http://schemas.openxmlformats.org/drawingml/2006/main">
            <a:off x="762000" y="2286000"/>
            <a:ext cx="338137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a:solidFill>
                  <a:srgbClr val="1A1A1A"/>
                </a:solidFill>
                <a:latin typeface="Calibri"/>
                <a:ea typeface="Calibri"/>
                <a:cs typeface="Calibri"/>
              </a:defRPr>
            </a:pPr>
            <a:r>
              <a:rPr sz="2100">
                <a:solidFill>
                  <a:srgbClr val="1A1A1A"/>
                </a:solidFill>
                <a:latin typeface="Calibri"/>
                <a:ea typeface="Calibri"/>
                <a:cs typeface="Calibri"/>
              </a:rPr>
              <a:t>Texte en temps réel</a:t>
            </a:r>
          </a:p>
          <a:p xmlns:a="http://schemas.openxmlformats.org/drawingml/2006/main">
            <a:r>
              <a:t/>
            </a:r>
          </a:p>
          <a:p xmlns:a="http://schemas.openxmlformats.org/drawingml/2006/main">
            <a:pPr>
              <a:defRPr sz="2100">
                <a:solidFill>
                  <a:srgbClr val="1A1A1A"/>
                </a:solidFill>
                <a:latin typeface="Calibri"/>
                <a:ea typeface="Calibri"/>
                <a:cs typeface="Calibri"/>
              </a:defRPr>
            </a:pPr>
            <a:r>
              <a:rPr sz="2100">
                <a:solidFill>
                  <a:srgbClr val="1A1A1A"/>
                </a:solidFill>
                <a:latin typeface="Calibri"/>
                <a:ea typeface="Calibri"/>
                <a:cs typeface="Calibri"/>
              </a:rPr>
              <a:t>Image reçue sans recharger</a:t>
            </a:r>
          </a:p>
          <a:p xmlns:a="http://schemas.openxmlformats.org/drawingml/2006/main">
            <a:r>
              <a:t/>
            </a:r>
          </a:p>
          <a:p xmlns:a="http://schemas.openxmlformats.org/drawingml/2006/main">
            <a:pPr>
              <a:defRPr sz="2100">
                <a:solidFill>
                  <a:srgbClr val="1A1A1A"/>
                </a:solidFill>
                <a:latin typeface="Calibri"/>
                <a:ea typeface="Calibri"/>
                <a:cs typeface="Calibri"/>
              </a:defRPr>
            </a:pPr>
            <a:r>
              <a:rPr sz="2100">
                <a:solidFill>
                  <a:srgbClr val="1A1A1A"/>
                </a:solidFill>
                <a:latin typeface="Calibri"/>
                <a:ea typeface="Calibri"/>
                <a:cs typeface="Calibri"/>
              </a:rPr>
              <a:t>Audio lu sur deux comptes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be4512e38024ed2"/>
          <a:srcRect xmlns:a="http://schemas.openxmlformats.org/drawingml/2006/main" l="0" t="14563" r="0" b="14563"/>
          <a:stretch xmlns:a="http://schemas.openxmlformats.org/drawingml/2006/main">
            <a:fillRect l="0" t="0" r="0" b="0"/>
          </a:stretch>
        </p:blipFill>
        <p:spPr>
          <a:xfrm xmlns:a="http://schemas.openxmlformats.org/drawingml/2006/main">
            <a:off x="4476750" y="2076450"/>
            <a:ext cx="6953250" cy="3943350"/>
          </a:xfrm>
          <a:prstGeom xmlns:a="http://schemas.openxmlformats.org/drawingml/2006/main" prst="rect">
            <a:avLst/>
          </a:prstGeom>
        </p:spPr>
      </p:pic>
    </p:spTree>
    <p:extLst>
      <p:ext uri="{BB962C8B-B14F-4D97-AF65-F5344CB8AC3E}">
        <p14:creationId xmlns:p14="http://schemas.microsoft.com/office/powerpoint/2010/main" val="225510855"/>
      </p:ext>
    </p:extLst>
  </p:cSld>
</p:sld>
</file>

<file path=ppt/slides/slide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80DF1DE-2EA4-489D-8EE6-4341C6B067FC}"/>
              </a:ext>
            </a:extLst>
          </p:cNvPr>
          <p:cNvSpPr>
            <a:spLocks xmlns:a="http://schemas.openxmlformats.org/drawingml/2006/main" noGrp="1"/>
          </p:cNvSpPr>
          <p:nvPr/>
        </p:nvSpPr>
        <p:spPr>
          <a:xfrm xmlns:a="http://schemas.openxmlformats.org/drawingml/2006/main">
            <a:off x="723900" y="4000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0535B"/>
                </a:solidFill>
                <a:latin typeface="Calibri"/>
                <a:ea typeface="Calibri"/>
                <a:cs typeface="Calibri"/>
              </a:defRPr>
            </a:pPr>
            <a:r>
              <a:rPr sz="1275" b="1">
                <a:solidFill>
                  <a:srgbClr val="00535B"/>
                </a:solidFill>
                <a:latin typeface="Calibri"/>
                <a:ea typeface="Calibri"/>
                <a:cs typeface="Calibri"/>
              </a:rPr>
              <a:t>SÉCURITÉ · 1 MIN 30 S</a:t>
            </a:r>
          </a:p>
        </p:txBody>
      </p:sp>
      <p:sp>
        <p:nvSpPr>
          <p:cNvPr id="2" name="">
            <a:extLst xmlns:a="http://schemas.openxmlformats.org/drawingml/2006/main">
              <a:ext uri="{FF2B5EF4-FFF2-40B4-BE49-F238E27FC236}">
                <a16:creationId xmlns:a16="http://schemas.microsoft.com/office/drawing/2014/main" id="{565A3E76-9303-4FBB-9722-B0C661288CB0}"/>
              </a:ext>
            </a:extLst>
          </p:cNvPr>
          <p:cNvSpPr>
            <a:spLocks xmlns:a="http://schemas.openxmlformats.org/drawingml/2006/main" noGrp="1"/>
          </p:cNvSpPr>
          <p:nvPr/>
        </p:nvSpPr>
        <p:spPr>
          <a:xfrm xmlns:a="http://schemas.openxmlformats.org/drawingml/2006/main">
            <a:off x="723900" y="895350"/>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a:solidFill>
                  <a:srgbClr val="1A1A1A"/>
                </a:solidFill>
                <a:latin typeface="Georgia"/>
                <a:ea typeface="Georgia"/>
                <a:cs typeface="Georgia"/>
              </a:defRPr>
            </a:pPr>
            <a:r>
              <a:rPr sz="3225">
                <a:solidFill>
                  <a:srgbClr val="1A1A1A"/>
                </a:solidFill>
                <a:latin typeface="Georgia"/>
                <a:ea typeface="Georgia"/>
                <a:cs typeface="Georgia"/>
              </a:rPr>
              <a:t>Autoriser chaque accès</a:t>
            </a:r>
          </a:p>
        </p:txBody>
      </p:sp>
      <p:sp>
        <p:nvSpPr>
          <p:cNvPr id="3" name="">
            <a:extLst xmlns:a="http://schemas.openxmlformats.org/drawingml/2006/main">
              <a:ext uri="{FF2B5EF4-FFF2-40B4-BE49-F238E27FC236}">
                <a16:creationId xmlns:a16="http://schemas.microsoft.com/office/drawing/2014/main" id="{8D8CCE9E-097E-43D1-A7A6-9BD339ADAEF7}"/>
              </a:ext>
            </a:extLst>
          </p:cNvPr>
          <p:cNvSpPr>
            <a:spLocks xmlns:a="http://schemas.openxmlformats.org/drawingml/2006/main" noGrp="1"/>
          </p:cNvSpPr>
          <p:nvPr/>
        </p:nvSpPr>
        <p:spPr>
          <a:xfrm xmlns:a="http://schemas.openxmlformats.org/drawingml/2006/main">
            <a:off x="723900" y="63436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596262"/>
                </a:solidFill>
                <a:latin typeface="Calibri"/>
                <a:ea typeface="Calibri"/>
                <a:cs typeface="Calibri"/>
              </a:defRPr>
            </a:pPr>
            <a:r>
              <a:rPr sz="1125">
                <a:solidFill>
                  <a:srgbClr val="596262"/>
                </a:solidFill>
                <a:latin typeface="Calibri"/>
                <a:ea typeface="Calibri"/>
                <a:cs typeface="Calibri"/>
              </a:rPr>
              <a:t>Gym Buddies · Version 1.2.0 · 14 septembre 2026</a:t>
            </a:r>
          </a:p>
        </p:txBody>
      </p:sp>
      <p:sp>
        <p:nvSpPr>
          <p:cNvPr id="4" name="">
            <a:extLst xmlns:a="http://schemas.openxmlformats.org/drawingml/2006/main">
              <a:ext uri="{FF2B5EF4-FFF2-40B4-BE49-F238E27FC236}">
                <a16:creationId xmlns:a16="http://schemas.microsoft.com/office/drawing/2014/main" id="{848B31DC-DC15-450C-BA3C-E388089DD562}"/>
              </a:ext>
            </a:extLst>
          </p:cNvPr>
          <p:cNvSpPr>
            <a:spLocks xmlns:a="http://schemas.openxmlformats.org/drawingml/2006/main" noGrp="1"/>
          </p:cNvSpPr>
          <p:nvPr/>
        </p:nvSpPr>
        <p:spPr>
          <a:xfrm xmlns:a="http://schemas.openxmlformats.org/drawingml/2006/main">
            <a:off x="11049000" y="63436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596262"/>
                </a:solidFill>
                <a:latin typeface="Calibri"/>
                <a:ea typeface="Calibri"/>
                <a:cs typeface="Calibri"/>
              </a:defRPr>
            </a:pPr>
            <a:r>
              <a:rPr sz="1125">
                <a:solidFill>
                  <a:srgbClr val="596262"/>
                </a:solidFill>
                <a:latin typeface="Calibri"/>
                <a:ea typeface="Calibri"/>
                <a:cs typeface="Calibri"/>
              </a:rPr>
              <a:t>07</a:t>
            </a:r>
          </a:p>
        </p:txBody>
      </p:sp>
      <p:sp>
        <p:nvSpPr>
          <p:cNvPr id="5" name="">
            <a:extLst xmlns:a="http://schemas.openxmlformats.org/drawingml/2006/main">
              <a:ext uri="{FF2B5EF4-FFF2-40B4-BE49-F238E27FC236}">
                <a16:creationId xmlns:a16="http://schemas.microsoft.com/office/drawing/2014/main" id="{681CA3F9-B428-4D70-8D63-19F2C0C4A709}"/>
              </a:ext>
            </a:extLst>
          </p:cNvPr>
          <p:cNvSpPr>
            <a:spLocks xmlns:a="http://schemas.openxmlformats.org/drawingml/2006/main" noGrp="1"/>
          </p:cNvSpPr>
          <p:nvPr/>
        </p:nvSpPr>
        <p:spPr>
          <a:xfrm xmlns:a="http://schemas.openxmlformats.org/drawingml/2006/main">
            <a:off x="781050" y="209550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a:solidFill>
                  <a:srgbClr val="1A1A1A"/>
                </a:solidFill>
                <a:latin typeface="Calibri"/>
                <a:ea typeface="Calibri"/>
                <a:cs typeface="Calibri"/>
              </a:defRPr>
            </a:pPr>
            <a:r>
              <a:rPr sz="2250">
                <a:solidFill>
                  <a:srgbClr val="1A1A1A"/>
                </a:solidFill>
                <a:latin typeface="Calibri"/>
                <a:ea typeface="Calibri"/>
                <a:cs typeface="Calibri"/>
              </a:rPr>
              <a:t>JWT court ; renouvellement atomique dans Redis.</a:t>
            </a:r>
          </a:p>
        </p:txBody>
      </p:sp>
      <p:sp>
        <p:nvSpPr>
          <p:cNvPr id="6" name="">
            <a:extLst xmlns:a="http://schemas.openxmlformats.org/drawingml/2006/main">
              <a:ext uri="{FF2B5EF4-FFF2-40B4-BE49-F238E27FC236}">
                <a16:creationId xmlns:a16="http://schemas.microsoft.com/office/drawing/2014/main" id="{38540484-8620-43FC-B809-85F30B681247}"/>
              </a:ext>
            </a:extLst>
          </p:cNvPr>
          <p:cNvSpPr>
            <a:spLocks xmlns:a="http://schemas.openxmlformats.org/drawingml/2006/main" noGrp="1"/>
          </p:cNvSpPr>
          <p:nvPr/>
        </p:nvSpPr>
        <p:spPr>
          <a:xfrm xmlns:a="http://schemas.openxmlformats.org/drawingml/2006/main">
            <a:off x="781050" y="293370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a:solidFill>
                  <a:srgbClr val="1A1A1A"/>
                </a:solidFill>
                <a:latin typeface="Calibri"/>
                <a:ea typeface="Calibri"/>
                <a:cs typeface="Calibri"/>
              </a:defRPr>
            </a:pPr>
            <a:r>
              <a:rPr sz="2250">
                <a:solidFill>
                  <a:srgbClr val="1A1A1A"/>
                </a:solidFill>
                <a:latin typeface="Calibri"/>
                <a:ea typeface="Calibri"/>
                <a:cs typeface="Calibri"/>
              </a:rPr>
              <a:t>Argon2id pour les mots de passe.</a:t>
            </a:r>
          </a:p>
        </p:txBody>
      </p:sp>
      <p:sp>
        <p:nvSpPr>
          <p:cNvPr id="7" name="">
            <a:extLst xmlns:a="http://schemas.openxmlformats.org/drawingml/2006/main">
              <a:ext uri="{FF2B5EF4-FFF2-40B4-BE49-F238E27FC236}">
                <a16:creationId xmlns:a16="http://schemas.microsoft.com/office/drawing/2014/main" id="{7D004A73-9893-4550-853F-0259C7B3F93C}"/>
              </a:ext>
            </a:extLst>
          </p:cNvPr>
          <p:cNvSpPr>
            <a:spLocks xmlns:a="http://schemas.openxmlformats.org/drawingml/2006/main" noGrp="1"/>
          </p:cNvSpPr>
          <p:nvPr/>
        </p:nvSpPr>
        <p:spPr>
          <a:xfrm xmlns:a="http://schemas.openxmlformats.org/drawingml/2006/main">
            <a:off x="781050" y="377190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a:solidFill>
                  <a:srgbClr val="1A1A1A"/>
                </a:solidFill>
                <a:latin typeface="Calibri"/>
                <a:ea typeface="Calibri"/>
                <a:cs typeface="Calibri"/>
              </a:defRPr>
            </a:pPr>
            <a:r>
              <a:rPr sz="2250">
                <a:solidFill>
                  <a:srgbClr val="1A1A1A"/>
                </a:solidFill>
                <a:latin typeface="Calibri"/>
                <a:ea typeface="Calibri"/>
                <a:cs typeface="Calibri"/>
              </a:rPr>
              <a:t>Ressource privée : accès vérifié avant chaque URL signée.</a:t>
            </a:r>
          </a:p>
        </p:txBody>
      </p:sp>
      <p:sp>
        <p:nvSpPr>
          <p:cNvPr id="8" name="">
            <a:extLst xmlns:a="http://schemas.openxmlformats.org/drawingml/2006/main">
              <a:ext uri="{FF2B5EF4-FFF2-40B4-BE49-F238E27FC236}">
                <a16:creationId xmlns:a16="http://schemas.microsoft.com/office/drawing/2014/main" id="{B7B7A421-2AEF-4F93-B708-8CC299A771AC}"/>
              </a:ext>
            </a:extLst>
          </p:cNvPr>
          <p:cNvSpPr>
            <a:spLocks xmlns:a="http://schemas.openxmlformats.org/drawingml/2006/main" noGrp="1"/>
          </p:cNvSpPr>
          <p:nvPr/>
        </p:nvSpPr>
        <p:spPr>
          <a:xfrm xmlns:a="http://schemas.openxmlformats.org/drawingml/2006/main">
            <a:off x="781050" y="461010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a:solidFill>
                  <a:srgbClr val="1A1A1A"/>
                </a:solidFill>
                <a:latin typeface="Calibri"/>
                <a:ea typeface="Calibri"/>
                <a:cs typeface="Calibri"/>
              </a:defRPr>
            </a:pPr>
            <a:r>
              <a:rPr sz="2250">
                <a:solidFill>
                  <a:srgbClr val="1A1A1A"/>
                </a:solidFill>
                <a:latin typeface="Calibri"/>
                <a:ea typeface="Calibri"/>
                <a:cs typeface="Calibri"/>
              </a:rPr>
              <a:t>Personnel : modération, rôles et journal d’audit.</a:t>
            </a:r>
          </a:p>
        </p:txBody>
      </p:sp>
    </p:spTree>
    <p:extLst>
      <p:ext uri="{BB962C8B-B14F-4D97-AF65-F5344CB8AC3E}">
        <p14:creationId xmlns:p14="http://schemas.microsoft.com/office/powerpoint/2010/main" val="241911594"/>
      </p:ext>
    </p:extLst>
  </p:cSld>
</p:sld>
</file>

<file path=ppt/slides/slide8.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DB7148B-AA53-4850-927D-861895A5254E}"/>
              </a:ext>
            </a:extLst>
          </p:cNvPr>
          <p:cNvSpPr>
            <a:spLocks xmlns:a="http://schemas.openxmlformats.org/drawingml/2006/main" noGrp="1"/>
          </p:cNvSpPr>
          <p:nvPr/>
        </p:nvSpPr>
        <p:spPr>
          <a:xfrm xmlns:a="http://schemas.openxmlformats.org/drawingml/2006/main">
            <a:off x="723900" y="4000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0535B"/>
                </a:solidFill>
                <a:latin typeface="Calibri"/>
                <a:ea typeface="Calibri"/>
                <a:cs typeface="Calibri"/>
              </a:defRPr>
            </a:pPr>
            <a:r>
              <a:rPr sz="1275" b="1">
                <a:solidFill>
                  <a:srgbClr val="00535B"/>
                </a:solidFill>
                <a:latin typeface="Calibri"/>
                <a:ea typeface="Calibri"/>
                <a:cs typeface="Calibri"/>
              </a:rPr>
              <a:t>ALGORITHMIQUE · 2 MINUTES</a:t>
            </a:r>
          </a:p>
        </p:txBody>
      </p:sp>
      <p:sp>
        <p:nvSpPr>
          <p:cNvPr id="2" name="">
            <a:extLst xmlns:a="http://schemas.openxmlformats.org/drawingml/2006/main">
              <a:ext uri="{FF2B5EF4-FFF2-40B4-BE49-F238E27FC236}">
                <a16:creationId xmlns:a16="http://schemas.microsoft.com/office/drawing/2014/main" id="{2EB4BABD-26F5-4FE7-8322-B5EE5C09200A}"/>
              </a:ext>
            </a:extLst>
          </p:cNvPr>
          <p:cNvSpPr>
            <a:spLocks xmlns:a="http://schemas.openxmlformats.org/drawingml/2006/main" noGrp="1"/>
          </p:cNvSpPr>
          <p:nvPr/>
        </p:nvSpPr>
        <p:spPr>
          <a:xfrm xmlns:a="http://schemas.openxmlformats.org/drawingml/2006/main">
            <a:off x="723900" y="895350"/>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a:solidFill>
                  <a:srgbClr val="1A1A1A"/>
                </a:solidFill>
                <a:latin typeface="Georgia"/>
                <a:ea typeface="Georgia"/>
                <a:cs typeface="Georgia"/>
              </a:defRPr>
            </a:pPr>
            <a:r>
              <a:rPr sz="3225">
                <a:solidFill>
                  <a:srgbClr val="1A1A1A"/>
                </a:solidFill>
                <a:latin typeface="Georgia"/>
                <a:ea typeface="Georgia"/>
                <a:cs typeface="Georgia"/>
              </a:rPr>
              <a:t>Des suggestions explicables</a:t>
            </a:r>
          </a:p>
        </p:txBody>
      </p:sp>
      <p:sp>
        <p:nvSpPr>
          <p:cNvPr id="3" name="">
            <a:extLst xmlns:a="http://schemas.openxmlformats.org/drawingml/2006/main">
              <a:ext uri="{FF2B5EF4-FFF2-40B4-BE49-F238E27FC236}">
                <a16:creationId xmlns:a16="http://schemas.microsoft.com/office/drawing/2014/main" id="{E7AA6F95-731A-4862-89F9-881BE7FE4DD7}"/>
              </a:ext>
            </a:extLst>
          </p:cNvPr>
          <p:cNvSpPr>
            <a:spLocks xmlns:a="http://schemas.openxmlformats.org/drawingml/2006/main" noGrp="1"/>
          </p:cNvSpPr>
          <p:nvPr/>
        </p:nvSpPr>
        <p:spPr>
          <a:xfrm xmlns:a="http://schemas.openxmlformats.org/drawingml/2006/main">
            <a:off x="723900" y="63436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596262"/>
                </a:solidFill>
                <a:latin typeface="Calibri"/>
                <a:ea typeface="Calibri"/>
                <a:cs typeface="Calibri"/>
              </a:defRPr>
            </a:pPr>
            <a:r>
              <a:rPr sz="1125">
                <a:solidFill>
                  <a:srgbClr val="596262"/>
                </a:solidFill>
                <a:latin typeface="Calibri"/>
                <a:ea typeface="Calibri"/>
                <a:cs typeface="Calibri"/>
              </a:rPr>
              <a:t>Gym Buddies · Version 1.2.0 · 14 septembre 2026</a:t>
            </a:r>
          </a:p>
        </p:txBody>
      </p:sp>
      <p:sp>
        <p:nvSpPr>
          <p:cNvPr id="4" name="">
            <a:extLst xmlns:a="http://schemas.openxmlformats.org/drawingml/2006/main">
              <a:ext uri="{FF2B5EF4-FFF2-40B4-BE49-F238E27FC236}">
                <a16:creationId xmlns:a16="http://schemas.microsoft.com/office/drawing/2014/main" id="{D8972A63-0ED4-4711-9857-DE4702C9C5B4}"/>
              </a:ext>
            </a:extLst>
          </p:cNvPr>
          <p:cNvSpPr>
            <a:spLocks xmlns:a="http://schemas.openxmlformats.org/drawingml/2006/main" noGrp="1"/>
          </p:cNvSpPr>
          <p:nvPr/>
        </p:nvSpPr>
        <p:spPr>
          <a:xfrm xmlns:a="http://schemas.openxmlformats.org/drawingml/2006/main">
            <a:off x="11049000" y="63436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596262"/>
                </a:solidFill>
                <a:latin typeface="Calibri"/>
                <a:ea typeface="Calibri"/>
                <a:cs typeface="Calibri"/>
              </a:defRPr>
            </a:pPr>
            <a:r>
              <a:rPr sz="1125">
                <a:solidFill>
                  <a:srgbClr val="596262"/>
                </a:solidFill>
                <a:latin typeface="Calibri"/>
                <a:ea typeface="Calibri"/>
                <a:cs typeface="Calibri"/>
              </a:rPr>
              <a:t>08</a:t>
            </a:r>
          </a:p>
        </p:txBody>
      </p:sp>
      <p:sp>
        <p:nvSpPr>
          <p:cNvPr id="5" name="">
            <a:extLst xmlns:a="http://schemas.openxmlformats.org/drawingml/2006/main">
              <a:ext uri="{FF2B5EF4-FFF2-40B4-BE49-F238E27FC236}">
                <a16:creationId xmlns:a16="http://schemas.microsoft.com/office/drawing/2014/main" id="{CC148A44-6439-46AE-8191-333A30F6307F}"/>
              </a:ext>
            </a:extLst>
          </p:cNvPr>
          <p:cNvSpPr>
            <a:spLocks xmlns:a="http://schemas.openxmlformats.org/drawingml/2006/main" noGrp="1"/>
          </p:cNvSpPr>
          <p:nvPr/>
        </p:nvSpPr>
        <p:spPr>
          <a:xfrm xmlns:a="http://schemas.openxmlformats.org/drawingml/2006/main">
            <a:off x="762000" y="22288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a:solidFill>
                  <a:srgbClr val="00535B"/>
                </a:solidFill>
                <a:latin typeface="Calibri"/>
                <a:ea typeface="Calibri"/>
                <a:cs typeface="Calibri"/>
              </a:defRPr>
            </a:pPr>
            <a:r>
              <a:rPr sz="2850">
                <a:solidFill>
                  <a:srgbClr val="00535B"/>
                </a:solidFill>
                <a:latin typeface="Calibri"/>
                <a:ea typeface="Calibri"/>
                <a:cs typeface="Calibri"/>
              </a:rPr>
              <a:t>S = 0,35m + 0,25J + 0,15G + 0,15T + 0,10E</a:t>
            </a:r>
          </a:p>
        </p:txBody>
      </p:sp>
      <p:sp>
        <p:nvSpPr>
          <p:cNvPr id="6" name="">
            <a:extLst xmlns:a="http://schemas.openxmlformats.org/drawingml/2006/main">
              <a:ext uri="{FF2B5EF4-FFF2-40B4-BE49-F238E27FC236}">
                <a16:creationId xmlns:a16="http://schemas.microsoft.com/office/drawing/2014/main" id="{1863BECC-C7D0-4AF5-AC77-6A57A28D5915}"/>
              </a:ext>
            </a:extLst>
          </p:cNvPr>
          <p:cNvSpPr>
            <a:spLocks xmlns:a="http://schemas.openxmlformats.org/drawingml/2006/main" noGrp="1"/>
          </p:cNvSpPr>
          <p:nvPr/>
        </p:nvSpPr>
        <p:spPr>
          <a:xfrm xmlns:a="http://schemas.openxmlformats.org/drawingml/2006/main">
            <a:off x="781050" y="32575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a:solidFill>
                  <a:srgbClr val="1A1A1A"/>
                </a:solidFill>
                <a:latin typeface="Calibri"/>
                <a:ea typeface="Calibri"/>
                <a:cs typeface="Calibri"/>
              </a:defRPr>
            </a:pPr>
            <a:r>
              <a:rPr sz="2100">
                <a:solidFill>
                  <a:srgbClr val="1A1A1A"/>
                </a:solidFill>
                <a:latin typeface="Calibri"/>
                <a:ea typeface="Calibri"/>
                <a:cs typeface="Calibri"/>
              </a:rPr>
              <a:t>Amis communs · sports · proximité · horaires · expérience</a:t>
            </a:r>
          </a:p>
        </p:txBody>
      </p:sp>
      <p:sp>
        <p:nvSpPr>
          <p:cNvPr id="7" name="">
            <a:extLst xmlns:a="http://schemas.openxmlformats.org/drawingml/2006/main">
              <a:ext uri="{FF2B5EF4-FFF2-40B4-BE49-F238E27FC236}">
                <a16:creationId xmlns:a16="http://schemas.microsoft.com/office/drawing/2014/main" id="{E89F2395-3017-40BF-872A-BDF7ADF2BE49}"/>
              </a:ext>
            </a:extLst>
          </p:cNvPr>
          <p:cNvSpPr>
            <a:spLocks xmlns:a="http://schemas.openxmlformats.org/drawingml/2006/main" noGrp="1"/>
          </p:cNvSpPr>
          <p:nvPr/>
        </p:nvSpPr>
        <p:spPr>
          <a:xfrm xmlns:a="http://schemas.openxmlformats.org/drawingml/2006/main">
            <a:off x="781050" y="40957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a:solidFill>
                  <a:srgbClr val="1A1A1A"/>
                </a:solidFill>
                <a:latin typeface="Calibri"/>
                <a:ea typeface="Calibri"/>
                <a:cs typeface="Calibri"/>
              </a:defRPr>
            </a:pPr>
            <a:r>
              <a:rPr sz="2100">
                <a:solidFill>
                  <a:srgbClr val="1A1A1A"/>
                </a:solidFill>
                <a:latin typeface="Calibri"/>
                <a:ea typeface="Calibri"/>
                <a:cs typeface="Calibri"/>
              </a:rPr>
              <a:t>Au plus 200 candidats évalués ; tri en O(C log C).</a:t>
            </a:r>
          </a:p>
        </p:txBody>
      </p:sp>
      <p:sp>
        <p:nvSpPr>
          <p:cNvPr id="8" name="">
            <a:extLst xmlns:a="http://schemas.openxmlformats.org/drawingml/2006/main">
              <a:ext uri="{FF2B5EF4-FFF2-40B4-BE49-F238E27FC236}">
                <a16:creationId xmlns:a16="http://schemas.microsoft.com/office/drawing/2014/main" id="{2CE0E03A-FAD9-432E-B5B7-A237A6810639}"/>
              </a:ext>
            </a:extLst>
          </p:cNvPr>
          <p:cNvSpPr>
            <a:spLocks xmlns:a="http://schemas.openxmlformats.org/drawingml/2006/main" noGrp="1"/>
          </p:cNvSpPr>
          <p:nvPr/>
        </p:nvSpPr>
        <p:spPr>
          <a:xfrm xmlns:a="http://schemas.openxmlformats.org/drawingml/2006/main">
            <a:off x="781050" y="49339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a:solidFill>
                  <a:srgbClr val="1A1A1A"/>
                </a:solidFill>
                <a:latin typeface="Calibri"/>
                <a:ea typeface="Calibri"/>
                <a:cs typeface="Calibri"/>
              </a:defRPr>
            </a:pPr>
            <a:r>
              <a:rPr sz="2100">
                <a:solidFill>
                  <a:srgbClr val="1A1A1A"/>
                </a:solidFill>
                <a:latin typeface="Calibri"/>
                <a:ea typeface="Calibri"/>
                <a:cs typeface="Calibri"/>
              </a:rPr>
              <a:t>Raison visible : le critère qui contribue le plus au score.</a:t>
            </a:r>
          </a:p>
        </p:txBody>
      </p:sp>
    </p:spTree>
    <p:extLst>
      <p:ext uri="{BB962C8B-B14F-4D97-AF65-F5344CB8AC3E}">
        <p14:creationId xmlns:p14="http://schemas.microsoft.com/office/powerpoint/2010/main" val="1973309932"/>
      </p:ext>
    </p:extLst>
  </p:cSld>
</p:sld>
</file>

<file path=ppt/slides/slide9.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4A2E2D9-53BB-4648-B3AA-DE7E49990E5F}"/>
              </a:ext>
            </a:extLst>
          </p:cNvPr>
          <p:cNvSpPr>
            <a:spLocks xmlns:a="http://schemas.openxmlformats.org/drawingml/2006/main" noGrp="1"/>
          </p:cNvSpPr>
          <p:nvPr/>
        </p:nvSpPr>
        <p:spPr>
          <a:xfrm xmlns:a="http://schemas.openxmlformats.org/drawingml/2006/main">
            <a:off x="723900" y="4000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0535B"/>
                </a:solidFill>
                <a:latin typeface="Calibri"/>
                <a:ea typeface="Calibri"/>
                <a:cs typeface="Calibri"/>
              </a:defRPr>
            </a:pPr>
            <a:r>
              <a:rPr sz="1275" b="1">
                <a:solidFill>
                  <a:srgbClr val="00535B"/>
                </a:solidFill>
                <a:latin typeface="Calibri"/>
                <a:ea typeface="Calibri"/>
                <a:cs typeface="Calibri"/>
              </a:rPr>
              <a:t>APPARIEMENT HEBDOMADAIRE · 1 MIN 30 S</a:t>
            </a:r>
          </a:p>
        </p:txBody>
      </p:sp>
      <p:sp>
        <p:nvSpPr>
          <p:cNvPr id="2" name="">
            <a:extLst xmlns:a="http://schemas.openxmlformats.org/drawingml/2006/main">
              <a:ext uri="{FF2B5EF4-FFF2-40B4-BE49-F238E27FC236}">
                <a16:creationId xmlns:a16="http://schemas.microsoft.com/office/drawing/2014/main" id="{368158B9-DA48-40BE-A119-B205760EDCEB}"/>
              </a:ext>
            </a:extLst>
          </p:cNvPr>
          <p:cNvSpPr>
            <a:spLocks xmlns:a="http://schemas.openxmlformats.org/drawingml/2006/main" noGrp="1"/>
          </p:cNvSpPr>
          <p:nvPr/>
        </p:nvSpPr>
        <p:spPr>
          <a:xfrm xmlns:a="http://schemas.openxmlformats.org/drawingml/2006/main">
            <a:off x="723900" y="895350"/>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a:solidFill>
                  <a:srgbClr val="1A1A1A"/>
                </a:solidFill>
                <a:latin typeface="Georgia"/>
                <a:ea typeface="Georgia"/>
                <a:cs typeface="Georgia"/>
              </a:defRPr>
            </a:pPr>
            <a:r>
              <a:rPr sz="3225">
                <a:solidFill>
                  <a:srgbClr val="1A1A1A"/>
                </a:solidFill>
                <a:latin typeface="Georgia"/>
                <a:ea typeface="Georgia"/>
                <a:cs typeface="Georgia"/>
              </a:rPr>
              <a:t>Apparier sans affecter deux fois</a:t>
            </a:r>
          </a:p>
        </p:txBody>
      </p:sp>
      <p:sp>
        <p:nvSpPr>
          <p:cNvPr id="3" name="">
            <a:extLst xmlns:a="http://schemas.openxmlformats.org/drawingml/2006/main">
              <a:ext uri="{FF2B5EF4-FFF2-40B4-BE49-F238E27FC236}">
                <a16:creationId xmlns:a16="http://schemas.microsoft.com/office/drawing/2014/main" id="{0E76A089-7FD1-4018-A4E6-802608E284E9}"/>
              </a:ext>
            </a:extLst>
          </p:cNvPr>
          <p:cNvSpPr>
            <a:spLocks xmlns:a="http://schemas.openxmlformats.org/drawingml/2006/main" noGrp="1"/>
          </p:cNvSpPr>
          <p:nvPr/>
        </p:nvSpPr>
        <p:spPr>
          <a:xfrm xmlns:a="http://schemas.openxmlformats.org/drawingml/2006/main">
            <a:off x="723900" y="63436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596262"/>
                </a:solidFill>
                <a:latin typeface="Calibri"/>
                <a:ea typeface="Calibri"/>
                <a:cs typeface="Calibri"/>
              </a:defRPr>
            </a:pPr>
            <a:r>
              <a:rPr sz="1125">
                <a:solidFill>
                  <a:srgbClr val="596262"/>
                </a:solidFill>
                <a:latin typeface="Calibri"/>
                <a:ea typeface="Calibri"/>
                <a:cs typeface="Calibri"/>
              </a:rPr>
              <a:t>Gym Buddies · Version 1.2.0 · 14 septembre 2026</a:t>
            </a:r>
          </a:p>
        </p:txBody>
      </p:sp>
      <p:sp>
        <p:nvSpPr>
          <p:cNvPr id="4" name="">
            <a:extLst xmlns:a="http://schemas.openxmlformats.org/drawingml/2006/main">
              <a:ext uri="{FF2B5EF4-FFF2-40B4-BE49-F238E27FC236}">
                <a16:creationId xmlns:a16="http://schemas.microsoft.com/office/drawing/2014/main" id="{0449C74F-A27A-4BCE-AF42-554BC092D65E}"/>
              </a:ext>
            </a:extLst>
          </p:cNvPr>
          <p:cNvSpPr>
            <a:spLocks xmlns:a="http://schemas.openxmlformats.org/drawingml/2006/main" noGrp="1"/>
          </p:cNvSpPr>
          <p:nvPr/>
        </p:nvSpPr>
        <p:spPr>
          <a:xfrm xmlns:a="http://schemas.openxmlformats.org/drawingml/2006/main">
            <a:off x="11049000" y="63436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596262"/>
                </a:solidFill>
                <a:latin typeface="Calibri"/>
                <a:ea typeface="Calibri"/>
                <a:cs typeface="Calibri"/>
              </a:defRPr>
            </a:pPr>
            <a:r>
              <a:rPr sz="1125">
                <a:solidFill>
                  <a:srgbClr val="596262"/>
                </a:solidFill>
                <a:latin typeface="Calibri"/>
                <a:ea typeface="Calibri"/>
                <a:cs typeface="Calibri"/>
              </a:rPr>
              <a:t>09</a:t>
            </a:r>
          </a:p>
        </p:txBody>
      </p:sp>
      <p:graphicFrame>
        <p:nvGraphicFramePr>
          <p:cNvPr id="10" name=""/>
          <p:cNvGraphicFramePr/>
          <p:nvPr/>
        </p:nvGraphicFramePr>
        <p:xfrm>
          <a:off xmlns:a="http://schemas.openxmlformats.org/drawingml/2006/main" x="762000" y="2095500"/>
          <a:ext xmlns:a="http://schemas.openxmlformats.org/drawingml/2006/main" cx="10668000" cy="3429000"/>
        </p:xfrm>
        <a:graphic xmlns:a="http://schemas.openxmlformats.org/drawingml/2006/main">
          <a:graphicData uri="http://schemas.openxmlformats.org/drawingml/2006/table">
            <a:tbl>
              <a:tblPr/>
              <a:tblGrid>
                <a:gridCol w="5334000"/>
                <a:gridCol w="5334000"/>
              </a:tblGrid>
              <a:tr h="685800">
                <a:tc>
                  <a:txBody>
                    <a:bodyPr/>
                    <a:lstStyle/>
                    <a:p>
                      <a:r>
                        <a:rPr sz="1875" b="1">
                          <a:solidFill>
                            <a:srgbClr val="FFFFFF"/>
                          </a:solidFill>
                          <a:latin typeface="Calibri"/>
                          <a:ea typeface="Calibri"/>
                          <a:cs typeface="Calibri"/>
                        </a:rPr>
                        <a:t>Étape</a:t>
                      </a:r>
                    </a:p>
                  </a:txBody>
                  <a:tcPr marL="91440" marR="91440" marT="45720" marB="45720">
                    <a:solidFill>
                      <a:srgbClr val="00535B"/>
                    </a:solidFill>
                  </a:tcPr>
                </a:tc>
                <a:tc>
                  <a:txBody>
                    <a:bodyPr/>
                    <a:lstStyle/>
                    <a:p>
                      <a:r>
                        <a:rPr sz="1875" b="1">
                          <a:solidFill>
                            <a:srgbClr val="FFFFFF"/>
                          </a:solidFill>
                          <a:latin typeface="Calibri"/>
                          <a:ea typeface="Calibri"/>
                          <a:cs typeface="Calibri"/>
                        </a:rPr>
                        <a:t>Règle</a:t>
                      </a:r>
                    </a:p>
                  </a:txBody>
                  <a:tcPr marL="91440" marR="91440" marT="45720" marB="45720">
                    <a:solidFill>
                      <a:srgbClr val="00535B"/>
                    </a:solidFill>
                  </a:tcPr>
                </a:tc>
              </a:tr>
              <a:tr h="685800">
                <a:tc>
                  <a:txBody>
                    <a:bodyPr/>
                    <a:lstStyle/>
                    <a:p>
                      <a:r>
                        <a:rPr sz="1875" b="0">
                          <a:solidFill>
                            <a:srgbClr val="1A1A1A"/>
                          </a:solidFill>
                          <a:latin typeface="Calibri"/>
                          <a:ea typeface="Calibri"/>
                          <a:cs typeface="Calibri"/>
                        </a:rPr>
                        <a:t>Candidats</a:t>
                      </a:r>
                    </a:p>
                  </a:txBody>
                  <a:tcPr marL="91440" marR="91440" marT="45720" marB="45720">
                    <a:solidFill>
                      <a:srgbClr val="F7F5F0"/>
                    </a:solidFill>
                  </a:tcPr>
                </a:tc>
                <a:tc>
                  <a:txBody>
                    <a:bodyPr/>
                    <a:lstStyle/>
                    <a:p>
                      <a:r>
                        <a:rPr sz="1875" b="0">
                          <a:solidFill>
                            <a:srgbClr val="1A1A1A"/>
                          </a:solidFill>
                          <a:latin typeface="Calibri"/>
                          <a:ea typeface="Calibri"/>
                          <a:cs typeface="Calibri"/>
                        </a:rPr>
                        <a:t>Volontaires actifs, sport et horaire communs</a:t>
                      </a:r>
                    </a:p>
                  </a:txBody>
                  <a:tcPr marL="91440" marR="91440" marT="45720" marB="45720">
                    <a:solidFill>
                      <a:srgbClr val="F7F5F0"/>
                    </a:solidFill>
                  </a:tcPr>
                </a:tc>
              </a:tr>
              <a:tr h="685800">
                <a:tc>
                  <a:txBody>
                    <a:bodyPr/>
                    <a:lstStyle/>
                    <a:p>
                      <a:r>
                        <a:rPr sz="1875" b="0">
                          <a:solidFill>
                            <a:srgbClr val="1A1A1A"/>
                          </a:solidFill>
                          <a:latin typeface="Calibri"/>
                          <a:ea typeface="Calibri"/>
                          <a:cs typeface="Calibri"/>
                        </a:rPr>
                        <a:t>Contraintes</a:t>
                      </a:r>
                    </a:p>
                  </a:txBody>
                  <a:tcPr marL="91440" marR="91440" marT="45720" marB="45720">
                    <a:solidFill>
                      <a:srgbClr val="F7F5F0"/>
                    </a:solidFill>
                  </a:tcPr>
                </a:tc>
                <a:tc>
                  <a:txBody>
                    <a:bodyPr/>
                    <a:lstStyle/>
                    <a:p>
                      <a:r>
                        <a:rPr sz="1875" b="0">
                          <a:solidFill>
                            <a:srgbClr val="1A1A1A"/>
                          </a:solidFill>
                          <a:latin typeface="Calibri"/>
                          <a:ea typeface="Calibri"/>
                          <a:cs typeface="Calibri"/>
                        </a:rPr>
                        <a:t>Pas de blocage ; visibilité compatible</a:t>
                      </a:r>
                    </a:p>
                  </a:txBody>
                  <a:tcPr marL="91440" marR="91440" marT="45720" marB="45720">
                    <a:solidFill>
                      <a:srgbClr val="F7F5F0"/>
                    </a:solidFill>
                  </a:tcPr>
                </a:tc>
              </a:tr>
              <a:tr h="685800">
                <a:tc>
                  <a:txBody>
                    <a:bodyPr/>
                    <a:lstStyle/>
                    <a:p>
                      <a:r>
                        <a:rPr sz="1875" b="0">
                          <a:solidFill>
                            <a:srgbClr val="1A1A1A"/>
                          </a:solidFill>
                          <a:latin typeface="Calibri"/>
                          <a:ea typeface="Calibri"/>
                          <a:cs typeface="Calibri"/>
                        </a:rPr>
                        <a:t>Choix glouton</a:t>
                      </a:r>
                    </a:p>
                  </a:txBody>
                  <a:tcPr marL="91440" marR="91440" marT="45720" marB="45720">
                    <a:solidFill>
                      <a:srgbClr val="F7F5F0"/>
                    </a:solidFill>
                  </a:tcPr>
                </a:tc>
                <a:tc>
                  <a:txBody>
                    <a:bodyPr/>
                    <a:lstStyle/>
                    <a:p>
                      <a:r>
                        <a:rPr sz="1875" b="0">
                          <a:solidFill>
                            <a:srgbClr val="1A1A1A"/>
                          </a:solidFill>
                          <a:latin typeface="Calibri"/>
                          <a:ea typeface="Calibri"/>
                          <a:cs typeface="Calibri"/>
                        </a:rPr>
                        <a:t>Poids décroissant ; une paire par personne</a:t>
                      </a:r>
                    </a:p>
                  </a:txBody>
                  <a:tcPr marL="91440" marR="91440" marT="45720" marB="45720">
                    <a:solidFill>
                      <a:srgbClr val="F7F5F0"/>
                    </a:solidFill>
                  </a:tcPr>
                </a:tc>
              </a:tr>
              <a:tr h="685800">
                <a:tc>
                  <a:txBody>
                    <a:bodyPr/>
                    <a:lstStyle/>
                    <a:p>
                      <a:r>
                        <a:rPr sz="1875" b="0">
                          <a:solidFill>
                            <a:srgbClr val="1A1A1A"/>
                          </a:solidFill>
                          <a:latin typeface="Calibri"/>
                          <a:ea typeface="Calibri"/>
                          <a:cs typeface="Calibri"/>
                        </a:rPr>
                        <a:t>Résultat</a:t>
                      </a:r>
                    </a:p>
                  </a:txBody>
                  <a:tcPr marL="91440" marR="91440" marT="45720" marB="45720">
                    <a:solidFill>
                      <a:srgbClr val="F7F5F0"/>
                    </a:solidFill>
                  </a:tcPr>
                </a:tc>
                <a:tc>
                  <a:txBody>
                    <a:bodyPr/>
                    <a:lstStyle/>
                    <a:p>
                      <a:r>
                        <a:rPr sz="1875" b="0">
                          <a:solidFill>
                            <a:srgbClr val="1A1A1A"/>
                          </a:solidFill>
                          <a:latin typeface="Calibri"/>
                          <a:ea typeface="Calibri"/>
                          <a:cs typeface="Calibri"/>
                        </a:rPr>
                        <a:t>Séance privée, partenaire invité, début du créneau</a:t>
                      </a:r>
                    </a:p>
                  </a:txBody>
                  <a:tcPr marL="91440" marR="91440" marT="45720" marB="45720">
                    <a:solidFill>
                      <a:srgbClr val="F7F5F0"/>
                    </a:solidFill>
                  </a:tcPr>
                </a:tc>
              </a:tr>
            </a:tbl>
          </a:graphicData>
        </a:graphic>
      </p:graphicFrame>
    </p:spTree>
    <p:extLst>
      <p:ext uri="{BB962C8B-B14F-4D97-AF65-F5344CB8AC3E}">
        <p14:creationId xmlns:p14="http://schemas.microsoft.com/office/powerpoint/2010/main" val="1501542468"/>
      </p:ext>
    </p:extLst>
  </p:cSld>
</p:sld>
</file>

<file path=ppt/slides/slide10.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37B78D3-2145-424A-A0FD-D0537E9B32BB}"/>
              </a:ext>
            </a:extLst>
          </p:cNvPr>
          <p:cNvSpPr>
            <a:spLocks xmlns:a="http://schemas.openxmlformats.org/drawingml/2006/main" noGrp="1"/>
          </p:cNvSpPr>
          <p:nvPr/>
        </p:nvSpPr>
        <p:spPr>
          <a:xfrm xmlns:a="http://schemas.openxmlformats.org/drawingml/2006/main">
            <a:off x="723900" y="4000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0535B"/>
                </a:solidFill>
                <a:latin typeface="Calibri"/>
                <a:ea typeface="Calibri"/>
                <a:cs typeface="Calibri"/>
              </a:defRPr>
            </a:pPr>
            <a:r>
              <a:rPr sz="1275" b="1">
                <a:solidFill>
                  <a:srgbClr val="00535B"/>
                </a:solidFill>
                <a:latin typeface="Calibri"/>
                <a:ea typeface="Calibri"/>
                <a:cs typeface="Calibri"/>
              </a:rPr>
              <a:t>VALIDATION · 1 MIN 30 S</a:t>
            </a:r>
          </a:p>
        </p:txBody>
      </p:sp>
      <p:sp>
        <p:nvSpPr>
          <p:cNvPr id="2" name="">
            <a:extLst xmlns:a="http://schemas.openxmlformats.org/drawingml/2006/main">
              <a:ext uri="{FF2B5EF4-FFF2-40B4-BE49-F238E27FC236}">
                <a16:creationId xmlns:a16="http://schemas.microsoft.com/office/drawing/2014/main" id="{A73A82E1-8869-44C5-857E-29713B1BB980}"/>
              </a:ext>
            </a:extLst>
          </p:cNvPr>
          <p:cNvSpPr>
            <a:spLocks xmlns:a="http://schemas.openxmlformats.org/drawingml/2006/main" noGrp="1"/>
          </p:cNvSpPr>
          <p:nvPr/>
        </p:nvSpPr>
        <p:spPr>
          <a:xfrm xmlns:a="http://schemas.openxmlformats.org/drawingml/2006/main">
            <a:off x="723900" y="895350"/>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a:solidFill>
                  <a:srgbClr val="1A1A1A"/>
                </a:solidFill>
                <a:latin typeface="Georgia"/>
                <a:ea typeface="Georgia"/>
                <a:cs typeface="Georgia"/>
              </a:defRPr>
            </a:pPr>
            <a:r>
              <a:rPr sz="3225">
                <a:solidFill>
                  <a:srgbClr val="1A1A1A"/>
                </a:solidFill>
                <a:latin typeface="Georgia"/>
                <a:ea typeface="Georgia"/>
                <a:cs typeface="Georgia"/>
              </a:rPr>
              <a:t>Une version testée et déployée</a:t>
            </a:r>
          </a:p>
        </p:txBody>
      </p:sp>
      <p:sp>
        <p:nvSpPr>
          <p:cNvPr id="3" name="">
            <a:extLst xmlns:a="http://schemas.openxmlformats.org/drawingml/2006/main">
              <a:ext uri="{FF2B5EF4-FFF2-40B4-BE49-F238E27FC236}">
                <a16:creationId xmlns:a16="http://schemas.microsoft.com/office/drawing/2014/main" id="{B8FEAFFC-4F9E-44E2-99BD-A5F36385E18A}"/>
              </a:ext>
            </a:extLst>
          </p:cNvPr>
          <p:cNvSpPr>
            <a:spLocks xmlns:a="http://schemas.openxmlformats.org/drawingml/2006/main" noGrp="1"/>
          </p:cNvSpPr>
          <p:nvPr/>
        </p:nvSpPr>
        <p:spPr>
          <a:xfrm xmlns:a="http://schemas.openxmlformats.org/drawingml/2006/main">
            <a:off x="723900" y="63436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596262"/>
                </a:solidFill>
                <a:latin typeface="Calibri"/>
                <a:ea typeface="Calibri"/>
                <a:cs typeface="Calibri"/>
              </a:defRPr>
            </a:pPr>
            <a:r>
              <a:rPr sz="1125">
                <a:solidFill>
                  <a:srgbClr val="596262"/>
                </a:solidFill>
                <a:latin typeface="Calibri"/>
                <a:ea typeface="Calibri"/>
                <a:cs typeface="Calibri"/>
              </a:rPr>
              <a:t>Gym Buddies · Version 1.2.0 · 14 septembre 2026</a:t>
            </a:r>
          </a:p>
        </p:txBody>
      </p:sp>
      <p:sp>
        <p:nvSpPr>
          <p:cNvPr id="4" name="">
            <a:extLst xmlns:a="http://schemas.openxmlformats.org/drawingml/2006/main">
              <a:ext uri="{FF2B5EF4-FFF2-40B4-BE49-F238E27FC236}">
                <a16:creationId xmlns:a16="http://schemas.microsoft.com/office/drawing/2014/main" id="{0E787F28-D8B6-4D96-A737-C7352E253C9C}"/>
              </a:ext>
            </a:extLst>
          </p:cNvPr>
          <p:cNvSpPr>
            <a:spLocks xmlns:a="http://schemas.openxmlformats.org/drawingml/2006/main" noGrp="1"/>
          </p:cNvSpPr>
          <p:nvPr/>
        </p:nvSpPr>
        <p:spPr>
          <a:xfrm xmlns:a="http://schemas.openxmlformats.org/drawingml/2006/main">
            <a:off x="11049000" y="63436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596262"/>
                </a:solidFill>
                <a:latin typeface="Calibri"/>
                <a:ea typeface="Calibri"/>
                <a:cs typeface="Calibri"/>
              </a:defRPr>
            </a:pPr>
            <a:r>
              <a:rPr sz="1125">
                <a:solidFill>
                  <a:srgbClr val="596262"/>
                </a:solidFill>
                <a:latin typeface="Calibri"/>
                <a:ea typeface="Calibri"/>
                <a:cs typeface="Calibri"/>
              </a:rPr>
              <a:t>10</a:t>
            </a:r>
          </a:p>
        </p:txBody>
      </p:sp>
      <p:sp>
        <p:nvSpPr>
          <p:cNvPr id="5" name="">
            <a:extLst xmlns:a="http://schemas.openxmlformats.org/drawingml/2006/main">
              <a:ext uri="{FF2B5EF4-FFF2-40B4-BE49-F238E27FC236}">
                <a16:creationId xmlns:a16="http://schemas.microsoft.com/office/drawing/2014/main" id="{E9B06BE1-CAB8-41A4-8353-1ACB70BDA580}"/>
              </a:ext>
            </a:extLst>
          </p:cNvPr>
          <p:cNvSpPr>
            <a:spLocks xmlns:a="http://schemas.openxmlformats.org/drawingml/2006/main" noGrp="1"/>
          </p:cNvSpPr>
          <p:nvPr/>
        </p:nvSpPr>
        <p:spPr>
          <a:xfrm xmlns:a="http://schemas.openxmlformats.org/drawingml/2006/main">
            <a:off x="781050" y="209550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a:solidFill>
                  <a:srgbClr val="1A1A1A"/>
                </a:solidFill>
                <a:latin typeface="Calibri"/>
                <a:ea typeface="Calibri"/>
                <a:cs typeface="Calibri"/>
              </a:defRPr>
            </a:pPr>
            <a:r>
              <a:rPr sz="2250">
                <a:solidFill>
                  <a:srgbClr val="1A1A1A"/>
                </a:solidFill>
                <a:latin typeface="Calibri"/>
                <a:ea typeface="Calibri"/>
                <a:cs typeface="Calibri"/>
              </a:rPr>
              <a:t>294 tests backend réussis, intégrations incluses.</a:t>
            </a:r>
          </a:p>
        </p:txBody>
      </p:sp>
      <p:sp>
        <p:nvSpPr>
          <p:cNvPr id="6" name="">
            <a:extLst xmlns:a="http://schemas.openxmlformats.org/drawingml/2006/main">
              <a:ext uri="{FF2B5EF4-FFF2-40B4-BE49-F238E27FC236}">
                <a16:creationId xmlns:a16="http://schemas.microsoft.com/office/drawing/2014/main" id="{D816059F-5367-49FE-B410-D3F0C36D0487}"/>
              </a:ext>
            </a:extLst>
          </p:cNvPr>
          <p:cNvSpPr>
            <a:spLocks xmlns:a="http://schemas.openxmlformats.org/drawingml/2006/main" noGrp="1"/>
          </p:cNvSpPr>
          <p:nvPr/>
        </p:nvSpPr>
        <p:spPr>
          <a:xfrm xmlns:a="http://schemas.openxmlformats.org/drawingml/2006/main">
            <a:off x="781050" y="293370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a:solidFill>
                  <a:srgbClr val="1A1A1A"/>
                </a:solidFill>
                <a:latin typeface="Calibri"/>
                <a:ea typeface="Calibri"/>
                <a:cs typeface="Calibri"/>
              </a:defRPr>
            </a:pPr>
            <a:r>
              <a:rPr sz="2250">
                <a:solidFill>
                  <a:srgbClr val="1A1A1A"/>
                </a:solidFill>
                <a:latin typeface="Calibri"/>
                <a:ea typeface="Calibri"/>
                <a:cs typeface="Calibri"/>
              </a:rPr>
              <a:t>Migration : 23 tables comparées avant ouverture du trafic.</a:t>
            </a:r>
          </a:p>
        </p:txBody>
      </p:sp>
      <p:sp>
        <p:nvSpPr>
          <p:cNvPr id="7" name="">
            <a:extLst xmlns:a="http://schemas.openxmlformats.org/drawingml/2006/main">
              <a:ext uri="{FF2B5EF4-FFF2-40B4-BE49-F238E27FC236}">
                <a16:creationId xmlns:a16="http://schemas.microsoft.com/office/drawing/2014/main" id="{35906C2A-2E11-483D-9305-D0129033690C}"/>
              </a:ext>
            </a:extLst>
          </p:cNvPr>
          <p:cNvSpPr>
            <a:spLocks xmlns:a="http://schemas.openxmlformats.org/drawingml/2006/main" noGrp="1"/>
          </p:cNvSpPr>
          <p:nvPr/>
        </p:nvSpPr>
        <p:spPr>
          <a:xfrm xmlns:a="http://schemas.openxmlformats.org/drawingml/2006/main">
            <a:off x="781050" y="377190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a:solidFill>
                  <a:srgbClr val="1A1A1A"/>
                </a:solidFill>
                <a:latin typeface="Calibri"/>
                <a:ea typeface="Calibri"/>
                <a:cs typeface="Calibri"/>
              </a:defRPr>
            </a:pPr>
            <a:r>
              <a:rPr sz="2250">
                <a:solidFill>
                  <a:srgbClr val="1A1A1A"/>
                </a:solidFill>
                <a:latin typeface="Calibri"/>
                <a:ea typeface="Calibri"/>
                <a:cs typeface="Calibri"/>
              </a:rPr>
              <a:t>Navigateur : droits, événements, image, audio et modération.</a:t>
            </a:r>
          </a:p>
        </p:txBody>
      </p:sp>
      <p:sp>
        <p:nvSpPr>
          <p:cNvPr id="8" name="">
            <a:extLst xmlns:a="http://schemas.openxmlformats.org/drawingml/2006/main">
              <a:ext uri="{FF2B5EF4-FFF2-40B4-BE49-F238E27FC236}">
                <a16:creationId xmlns:a16="http://schemas.microsoft.com/office/drawing/2014/main" id="{19B03400-DD64-4EAD-9598-93D824226271}"/>
              </a:ext>
            </a:extLst>
          </p:cNvPr>
          <p:cNvSpPr>
            <a:spLocks xmlns:a="http://schemas.openxmlformats.org/drawingml/2006/main" noGrp="1"/>
          </p:cNvSpPr>
          <p:nvPr/>
        </p:nvSpPr>
        <p:spPr>
          <a:xfrm xmlns:a="http://schemas.openxmlformats.org/drawingml/2006/main">
            <a:off x="781050" y="461010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a:solidFill>
                  <a:srgbClr val="1A1A1A"/>
                </a:solidFill>
                <a:latin typeface="Calibri"/>
                <a:ea typeface="Calibri"/>
                <a:cs typeface="Calibri"/>
              </a:defRPr>
            </a:pPr>
            <a:r>
              <a:rPr sz="2250">
                <a:solidFill>
                  <a:srgbClr val="1A1A1A"/>
                </a:solidFill>
                <a:latin typeface="Calibri"/>
                <a:ea typeface="Calibri"/>
                <a:cs typeface="Calibri"/>
              </a:rPr>
              <a:t>Aucune vulnérabilité critique détectée sur les images analysées.</a:t>
            </a:r>
          </a:p>
        </p:txBody>
      </p:sp>
    </p:spTree>
    <p:extLst>
      <p:ext uri="{BB962C8B-B14F-4D97-AF65-F5344CB8AC3E}">
        <p14:creationId xmlns:p14="http://schemas.microsoft.com/office/powerpoint/2010/main" val="1841076865"/>
      </p:ext>
    </p:extLst>
  </p:cSld>
</p:sld>
</file>

<file path=ppt/slides/slide1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D43CDB6-8CA3-4055-B8A1-D5D7378F01F5}"/>
              </a:ext>
            </a:extLst>
          </p:cNvPr>
          <p:cNvSpPr>
            <a:spLocks xmlns:a="http://schemas.openxmlformats.org/drawingml/2006/main" noGrp="1"/>
          </p:cNvSpPr>
          <p:nvPr/>
        </p:nvSpPr>
        <p:spPr>
          <a:xfrm xmlns:a="http://schemas.openxmlformats.org/drawingml/2006/main">
            <a:off x="723900" y="4000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0535B"/>
                </a:solidFill>
                <a:latin typeface="Calibri"/>
                <a:ea typeface="Calibri"/>
                <a:cs typeface="Calibri"/>
              </a:defRPr>
            </a:pPr>
            <a:r>
              <a:rPr sz="1275" b="1">
                <a:solidFill>
                  <a:srgbClr val="00535B"/>
                </a:solidFill>
                <a:latin typeface="Calibri"/>
                <a:ea typeface="Calibri"/>
                <a:cs typeface="Calibri"/>
              </a:rPr>
              <a:t>ANALYSE CRITIQUE · 1 MINUTE</a:t>
            </a:r>
          </a:p>
        </p:txBody>
      </p:sp>
      <p:sp>
        <p:nvSpPr>
          <p:cNvPr id="2" name="">
            <a:extLst xmlns:a="http://schemas.openxmlformats.org/drawingml/2006/main">
              <a:ext uri="{FF2B5EF4-FFF2-40B4-BE49-F238E27FC236}">
                <a16:creationId xmlns:a16="http://schemas.microsoft.com/office/drawing/2014/main" id="{27D7DA5E-395A-4E95-92B9-B98CC2C30765}"/>
              </a:ext>
            </a:extLst>
          </p:cNvPr>
          <p:cNvSpPr>
            <a:spLocks xmlns:a="http://schemas.openxmlformats.org/drawingml/2006/main" noGrp="1"/>
          </p:cNvSpPr>
          <p:nvPr/>
        </p:nvSpPr>
        <p:spPr>
          <a:xfrm xmlns:a="http://schemas.openxmlformats.org/drawingml/2006/main">
            <a:off x="723900" y="895350"/>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a:solidFill>
                  <a:srgbClr val="1A1A1A"/>
                </a:solidFill>
                <a:latin typeface="Georgia"/>
                <a:ea typeface="Georgia"/>
                <a:cs typeface="Georgia"/>
              </a:defRPr>
            </a:pPr>
            <a:r>
              <a:rPr sz="3225">
                <a:solidFill>
                  <a:srgbClr val="1A1A1A"/>
                </a:solidFill>
                <a:latin typeface="Georgia"/>
                <a:ea typeface="Georgia"/>
                <a:cs typeface="Georgia"/>
              </a:rPr>
              <a:t>Limites assumées et mesurables</a:t>
            </a:r>
          </a:p>
        </p:txBody>
      </p:sp>
      <p:sp>
        <p:nvSpPr>
          <p:cNvPr id="3" name="">
            <a:extLst xmlns:a="http://schemas.openxmlformats.org/drawingml/2006/main">
              <a:ext uri="{FF2B5EF4-FFF2-40B4-BE49-F238E27FC236}">
                <a16:creationId xmlns:a16="http://schemas.microsoft.com/office/drawing/2014/main" id="{4357CBB1-B2EA-4921-85B1-1763B03C5748}"/>
              </a:ext>
            </a:extLst>
          </p:cNvPr>
          <p:cNvSpPr>
            <a:spLocks xmlns:a="http://schemas.openxmlformats.org/drawingml/2006/main" noGrp="1"/>
          </p:cNvSpPr>
          <p:nvPr/>
        </p:nvSpPr>
        <p:spPr>
          <a:xfrm xmlns:a="http://schemas.openxmlformats.org/drawingml/2006/main">
            <a:off x="723900" y="63436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596262"/>
                </a:solidFill>
                <a:latin typeface="Calibri"/>
                <a:ea typeface="Calibri"/>
                <a:cs typeface="Calibri"/>
              </a:defRPr>
            </a:pPr>
            <a:r>
              <a:rPr sz="1125">
                <a:solidFill>
                  <a:srgbClr val="596262"/>
                </a:solidFill>
                <a:latin typeface="Calibri"/>
                <a:ea typeface="Calibri"/>
                <a:cs typeface="Calibri"/>
              </a:rPr>
              <a:t>Gym Buddies · Version 1.2.0 · 14 septembre 2026</a:t>
            </a:r>
          </a:p>
        </p:txBody>
      </p:sp>
      <p:sp>
        <p:nvSpPr>
          <p:cNvPr id="4" name="">
            <a:extLst xmlns:a="http://schemas.openxmlformats.org/drawingml/2006/main">
              <a:ext uri="{FF2B5EF4-FFF2-40B4-BE49-F238E27FC236}">
                <a16:creationId xmlns:a16="http://schemas.microsoft.com/office/drawing/2014/main" id="{7B253BA5-FFE6-4E48-8497-F0ED39C054C6}"/>
              </a:ext>
            </a:extLst>
          </p:cNvPr>
          <p:cNvSpPr>
            <a:spLocks xmlns:a="http://schemas.openxmlformats.org/drawingml/2006/main" noGrp="1"/>
          </p:cNvSpPr>
          <p:nvPr/>
        </p:nvSpPr>
        <p:spPr>
          <a:xfrm xmlns:a="http://schemas.openxmlformats.org/drawingml/2006/main">
            <a:off x="11049000" y="63436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596262"/>
                </a:solidFill>
                <a:latin typeface="Calibri"/>
                <a:ea typeface="Calibri"/>
                <a:cs typeface="Calibri"/>
              </a:defRPr>
            </a:pPr>
            <a:r>
              <a:rPr sz="1125">
                <a:solidFill>
                  <a:srgbClr val="596262"/>
                </a:solidFill>
                <a:latin typeface="Calibri"/>
                <a:ea typeface="Calibri"/>
                <a:cs typeface="Calibri"/>
              </a:rPr>
              <a:t>11</a:t>
            </a:r>
          </a:p>
        </p:txBody>
      </p:sp>
      <p:sp>
        <p:nvSpPr>
          <p:cNvPr id="5" name="">
            <a:extLst xmlns:a="http://schemas.openxmlformats.org/drawingml/2006/main">
              <a:ext uri="{FF2B5EF4-FFF2-40B4-BE49-F238E27FC236}">
                <a16:creationId xmlns:a16="http://schemas.microsoft.com/office/drawing/2014/main" id="{903A3823-BB20-4F3C-B909-E0667793D180}"/>
              </a:ext>
            </a:extLst>
          </p:cNvPr>
          <p:cNvSpPr>
            <a:spLocks xmlns:a="http://schemas.openxmlformats.org/drawingml/2006/main" noGrp="1"/>
          </p:cNvSpPr>
          <p:nvPr/>
        </p:nvSpPr>
        <p:spPr>
          <a:xfrm xmlns:a="http://schemas.openxmlformats.org/drawingml/2006/main">
            <a:off x="781050" y="209550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a:solidFill>
                  <a:srgbClr val="1A1A1A"/>
                </a:solidFill>
                <a:latin typeface="Calibri"/>
                <a:ea typeface="Calibri"/>
                <a:cs typeface="Calibri"/>
              </a:defRPr>
            </a:pPr>
            <a:r>
              <a:rPr sz="2175">
                <a:solidFill>
                  <a:srgbClr val="1A1A1A"/>
                </a:solidFill>
                <a:latin typeface="Calibri"/>
                <a:ea typeface="Calibri"/>
                <a:cs typeface="Calibri"/>
              </a:rPr>
              <a:t>Recherche : coût réel à mesurer sur les grandes fixtures.</a:t>
            </a:r>
          </a:p>
        </p:txBody>
      </p:sp>
      <p:sp>
        <p:nvSpPr>
          <p:cNvPr id="6" name="">
            <a:extLst xmlns:a="http://schemas.openxmlformats.org/drawingml/2006/main">
              <a:ext uri="{FF2B5EF4-FFF2-40B4-BE49-F238E27FC236}">
                <a16:creationId xmlns:a16="http://schemas.microsoft.com/office/drawing/2014/main" id="{71E2B0AB-3150-4603-A469-4712BAB50B49}"/>
              </a:ext>
            </a:extLst>
          </p:cNvPr>
          <p:cNvSpPr>
            <a:spLocks xmlns:a="http://schemas.openxmlformats.org/drawingml/2006/main" noGrp="1"/>
          </p:cNvSpPr>
          <p:nvPr/>
        </p:nvSpPr>
        <p:spPr>
          <a:xfrm xmlns:a="http://schemas.openxmlformats.org/drawingml/2006/main">
            <a:off x="781050" y="293370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a:solidFill>
                  <a:srgbClr val="1A1A1A"/>
                </a:solidFill>
                <a:latin typeface="Calibri"/>
                <a:ea typeface="Calibri"/>
                <a:cs typeface="Calibri"/>
              </a:defRPr>
            </a:pPr>
            <a:r>
              <a:rPr sz="2175">
                <a:solidFill>
                  <a:srgbClr val="1A1A1A"/>
                </a:solidFill>
                <a:latin typeface="Calibri"/>
                <a:ea typeface="Calibri"/>
                <a:cs typeface="Calibri"/>
              </a:rPr>
              <a:t>Récurrence en UTC : heure locale variable avec les saisons.</a:t>
            </a:r>
          </a:p>
        </p:txBody>
      </p:sp>
      <p:sp>
        <p:nvSpPr>
          <p:cNvPr id="7" name="">
            <a:extLst xmlns:a="http://schemas.openxmlformats.org/drawingml/2006/main">
              <a:ext uri="{FF2B5EF4-FFF2-40B4-BE49-F238E27FC236}">
                <a16:creationId xmlns:a16="http://schemas.microsoft.com/office/drawing/2014/main" id="{0F94DC62-A77B-436E-AF7D-BDE2C80E54B7}"/>
              </a:ext>
            </a:extLst>
          </p:cNvPr>
          <p:cNvSpPr>
            <a:spLocks xmlns:a="http://schemas.openxmlformats.org/drawingml/2006/main" noGrp="1"/>
          </p:cNvSpPr>
          <p:nvPr/>
        </p:nvSpPr>
        <p:spPr>
          <a:xfrm xmlns:a="http://schemas.openxmlformats.org/drawingml/2006/main">
            <a:off x="781050" y="377190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a:solidFill>
                  <a:srgbClr val="1A1A1A"/>
                </a:solidFill>
                <a:latin typeface="Calibri"/>
                <a:ea typeface="Calibri"/>
                <a:cs typeface="Calibri"/>
              </a:defRPr>
            </a:pPr>
            <a:r>
              <a:rPr sz="2175">
                <a:solidFill>
                  <a:srgbClr val="1A1A1A"/>
                </a:solidFill>
                <a:latin typeface="Calibri"/>
                <a:ea typeface="Calibri"/>
                <a:cs typeface="Calibri"/>
              </a:rPr>
              <a:t>Appariement glouton : compromis simplicité / optimalité.</a:t>
            </a:r>
          </a:p>
        </p:txBody>
      </p:sp>
      <p:sp>
        <p:nvSpPr>
          <p:cNvPr id="8" name="">
            <a:extLst xmlns:a="http://schemas.openxmlformats.org/drawingml/2006/main">
              <a:ext uri="{FF2B5EF4-FFF2-40B4-BE49-F238E27FC236}">
                <a16:creationId xmlns:a16="http://schemas.microsoft.com/office/drawing/2014/main" id="{EAD36E3E-845F-44DE-B4CA-A7F25A3E153D}"/>
              </a:ext>
            </a:extLst>
          </p:cNvPr>
          <p:cNvSpPr>
            <a:spLocks xmlns:a="http://schemas.openxmlformats.org/drawingml/2006/main" noGrp="1"/>
          </p:cNvSpPr>
          <p:nvPr/>
        </p:nvSpPr>
        <p:spPr>
          <a:xfrm xmlns:a="http://schemas.openxmlformats.org/drawingml/2006/main">
            <a:off x="781050" y="461010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a:solidFill>
                  <a:srgbClr val="1A1A1A"/>
                </a:solidFill>
                <a:latin typeface="Calibri"/>
                <a:ea typeface="Calibri"/>
                <a:cs typeface="Calibri"/>
              </a:defRPr>
            </a:pPr>
            <a:r>
              <a:rPr sz="2175">
                <a:solidFill>
                  <a:srgbClr val="1A1A1A"/>
                </a:solidFill>
                <a:latin typeface="Calibri"/>
                <a:ea typeface="Calibri"/>
                <a:cs typeface="Calibri"/>
              </a:rPr>
              <a:t>Sécurité : résultats datés, maintenance à poursuivre.</a:t>
            </a:r>
          </a:p>
        </p:txBody>
      </p:sp>
    </p:spTree>
    <p:extLst>
      <p:ext uri="{BB962C8B-B14F-4D97-AF65-F5344CB8AC3E}">
        <p14:creationId xmlns:p14="http://schemas.microsoft.com/office/powerpoint/2010/main" val="2098442898"/>
      </p:ext>
    </p:extLst>
  </p:cSld>
</p:sld>
</file>

<file path=ppt/slides/slide1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56F5B72-1330-4997-B672-AFFDC0723C34}"/>
              </a:ext>
            </a:extLst>
          </p:cNvPr>
          <p:cNvSpPr>
            <a:spLocks xmlns:a="http://schemas.openxmlformats.org/drawingml/2006/main" noGrp="1"/>
          </p:cNvSpPr>
          <p:nvPr/>
        </p:nvSpPr>
        <p:spPr>
          <a:xfrm xmlns:a="http://schemas.openxmlformats.org/drawingml/2006/main">
            <a:off x="723900" y="4000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0535B"/>
                </a:solidFill>
                <a:latin typeface="Calibri"/>
                <a:ea typeface="Calibri"/>
                <a:cs typeface="Calibri"/>
              </a:defRPr>
            </a:pPr>
            <a:r>
              <a:rPr sz="1275" b="1">
                <a:solidFill>
                  <a:srgbClr val="00535B"/>
                </a:solidFill>
                <a:latin typeface="Calibri"/>
                <a:ea typeface="Calibri"/>
                <a:cs typeface="Calibri"/>
              </a:rPr>
              <a:t>CONCLUSION · 1 MINUTE + 2 MINUTES DE MARGE</a:t>
            </a:r>
          </a:p>
        </p:txBody>
      </p:sp>
      <p:sp>
        <p:nvSpPr>
          <p:cNvPr id="2" name="">
            <a:extLst xmlns:a="http://schemas.openxmlformats.org/drawingml/2006/main">
              <a:ext uri="{FF2B5EF4-FFF2-40B4-BE49-F238E27FC236}">
                <a16:creationId xmlns:a16="http://schemas.microsoft.com/office/drawing/2014/main" id="{3505F7A4-F8A0-40E2-9F25-DF3A4C692CDF}"/>
              </a:ext>
            </a:extLst>
          </p:cNvPr>
          <p:cNvSpPr>
            <a:spLocks xmlns:a="http://schemas.openxmlformats.org/drawingml/2006/main" noGrp="1"/>
          </p:cNvSpPr>
          <p:nvPr/>
        </p:nvSpPr>
        <p:spPr>
          <a:xfrm xmlns:a="http://schemas.openxmlformats.org/drawingml/2006/main">
            <a:off x="723900" y="895350"/>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a:solidFill>
                  <a:srgbClr val="1A1A1A"/>
                </a:solidFill>
                <a:latin typeface="Georgia"/>
                <a:ea typeface="Georgia"/>
                <a:cs typeface="Georgia"/>
              </a:defRPr>
            </a:pPr>
            <a:r>
              <a:rPr sz="3225">
                <a:solidFill>
                  <a:srgbClr val="1A1A1A"/>
                </a:solidFill>
                <a:latin typeface="Georgia"/>
                <a:ea typeface="Georgia"/>
                <a:cs typeface="Georgia"/>
              </a:rPr>
              <a:t>Bilan et questions</a:t>
            </a:r>
          </a:p>
        </p:txBody>
      </p:sp>
      <p:sp>
        <p:nvSpPr>
          <p:cNvPr id="3" name="">
            <a:extLst xmlns:a="http://schemas.openxmlformats.org/drawingml/2006/main">
              <a:ext uri="{FF2B5EF4-FFF2-40B4-BE49-F238E27FC236}">
                <a16:creationId xmlns:a16="http://schemas.microsoft.com/office/drawing/2014/main" id="{70884B64-FCE0-4705-B938-5076040DC586}"/>
              </a:ext>
            </a:extLst>
          </p:cNvPr>
          <p:cNvSpPr>
            <a:spLocks xmlns:a="http://schemas.openxmlformats.org/drawingml/2006/main" noGrp="1"/>
          </p:cNvSpPr>
          <p:nvPr/>
        </p:nvSpPr>
        <p:spPr>
          <a:xfrm xmlns:a="http://schemas.openxmlformats.org/drawingml/2006/main">
            <a:off x="723900" y="63436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596262"/>
                </a:solidFill>
                <a:latin typeface="Calibri"/>
                <a:ea typeface="Calibri"/>
                <a:cs typeface="Calibri"/>
              </a:defRPr>
            </a:pPr>
            <a:r>
              <a:rPr sz="1125">
                <a:solidFill>
                  <a:srgbClr val="596262"/>
                </a:solidFill>
                <a:latin typeface="Calibri"/>
                <a:ea typeface="Calibri"/>
                <a:cs typeface="Calibri"/>
              </a:rPr>
              <a:t>Gym Buddies · Version 1.2.0 · 14 septembre 2026</a:t>
            </a:r>
          </a:p>
        </p:txBody>
      </p:sp>
      <p:sp>
        <p:nvSpPr>
          <p:cNvPr id="4" name="">
            <a:extLst xmlns:a="http://schemas.openxmlformats.org/drawingml/2006/main">
              <a:ext uri="{FF2B5EF4-FFF2-40B4-BE49-F238E27FC236}">
                <a16:creationId xmlns:a16="http://schemas.microsoft.com/office/drawing/2014/main" id="{9F9245A5-527F-427D-8F17-5465193D75F6}"/>
              </a:ext>
            </a:extLst>
          </p:cNvPr>
          <p:cNvSpPr>
            <a:spLocks xmlns:a="http://schemas.openxmlformats.org/drawingml/2006/main" noGrp="1"/>
          </p:cNvSpPr>
          <p:nvPr/>
        </p:nvSpPr>
        <p:spPr>
          <a:xfrm xmlns:a="http://schemas.openxmlformats.org/drawingml/2006/main">
            <a:off x="11049000" y="63436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596262"/>
                </a:solidFill>
                <a:latin typeface="Calibri"/>
                <a:ea typeface="Calibri"/>
                <a:cs typeface="Calibri"/>
              </a:defRPr>
            </a:pPr>
            <a:r>
              <a:rPr sz="1125">
                <a:solidFill>
                  <a:srgbClr val="596262"/>
                </a:solidFill>
                <a:latin typeface="Calibri"/>
                <a:ea typeface="Calibri"/>
                <a:cs typeface="Calibri"/>
              </a:rPr>
              <a:t>12</a:t>
            </a:r>
          </a:p>
        </p:txBody>
      </p:sp>
      <p:sp>
        <p:nvSpPr>
          <p:cNvPr id="5" name="">
            <a:extLst xmlns:a="http://schemas.openxmlformats.org/drawingml/2006/main">
              <a:ext uri="{FF2B5EF4-FFF2-40B4-BE49-F238E27FC236}">
                <a16:creationId xmlns:a16="http://schemas.microsoft.com/office/drawing/2014/main" id="{8483115E-37F2-4733-A53D-752F94696CD4}"/>
              </a:ext>
            </a:extLst>
          </p:cNvPr>
          <p:cNvSpPr>
            <a:spLocks xmlns:a="http://schemas.openxmlformats.org/drawingml/2006/main" noGrp="1"/>
          </p:cNvSpPr>
          <p:nvPr/>
        </p:nvSpPr>
        <p:spPr>
          <a:xfrm xmlns:a="http://schemas.openxmlformats.org/drawingml/2006/main">
            <a:off x="781050" y="232410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a:solidFill>
                  <a:srgbClr val="1A1A1A"/>
                </a:solidFill>
                <a:latin typeface="Calibri"/>
                <a:ea typeface="Calibri"/>
                <a:cs typeface="Calibri"/>
              </a:defRPr>
            </a:pPr>
            <a:r>
              <a:rPr sz="2325">
                <a:solidFill>
                  <a:srgbClr val="1A1A1A"/>
                </a:solidFill>
                <a:latin typeface="Calibri"/>
                <a:ea typeface="Calibri"/>
                <a:cs typeface="Calibri"/>
              </a:rPr>
              <a:t>Un parcours complet, du profil à la séance partagée.</a:t>
            </a:r>
          </a:p>
        </p:txBody>
      </p:sp>
      <p:sp>
        <p:nvSpPr>
          <p:cNvPr id="6" name="">
            <a:extLst xmlns:a="http://schemas.openxmlformats.org/drawingml/2006/main">
              <a:ext uri="{FF2B5EF4-FFF2-40B4-BE49-F238E27FC236}">
                <a16:creationId xmlns:a16="http://schemas.microsoft.com/office/drawing/2014/main" id="{EBE37D9C-D5B3-42DE-9F33-66338D811DA6}"/>
              </a:ext>
            </a:extLst>
          </p:cNvPr>
          <p:cNvSpPr>
            <a:spLocks xmlns:a="http://schemas.openxmlformats.org/drawingml/2006/main" noGrp="1"/>
          </p:cNvSpPr>
          <p:nvPr/>
        </p:nvSpPr>
        <p:spPr>
          <a:xfrm xmlns:a="http://schemas.openxmlformats.org/drawingml/2006/main">
            <a:off x="781050" y="316230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a:solidFill>
                  <a:srgbClr val="1A1A1A"/>
                </a:solidFill>
                <a:latin typeface="Calibri"/>
                <a:ea typeface="Calibri"/>
                <a:cs typeface="Calibri"/>
              </a:defRPr>
            </a:pPr>
            <a:r>
              <a:rPr sz="2325">
                <a:solidFill>
                  <a:srgbClr val="1A1A1A"/>
                </a:solidFill>
                <a:latin typeface="Calibri"/>
                <a:ea typeface="Calibri"/>
                <a:cs typeface="Calibri"/>
              </a:rPr>
              <a:t>Un contrat commun, des règles métier testées, des preuves réelles.</a:t>
            </a:r>
          </a:p>
        </p:txBody>
      </p:sp>
      <p:sp>
        <p:nvSpPr>
          <p:cNvPr id="7" name="">
            <a:extLst xmlns:a="http://schemas.openxmlformats.org/drawingml/2006/main">
              <a:ext uri="{FF2B5EF4-FFF2-40B4-BE49-F238E27FC236}">
                <a16:creationId xmlns:a16="http://schemas.microsoft.com/office/drawing/2014/main" id="{10ADC264-9F76-444E-8165-E3802DD509E7}"/>
              </a:ext>
            </a:extLst>
          </p:cNvPr>
          <p:cNvSpPr>
            <a:spLocks xmlns:a="http://schemas.openxmlformats.org/drawingml/2006/main" noGrp="1"/>
          </p:cNvSpPr>
          <p:nvPr/>
        </p:nvSpPr>
        <p:spPr>
          <a:xfrm xmlns:a="http://schemas.openxmlformats.org/drawingml/2006/main">
            <a:off x="781050" y="400050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a:solidFill>
                  <a:srgbClr val="1A1A1A"/>
                </a:solidFill>
                <a:latin typeface="Calibri"/>
                <a:ea typeface="Calibri"/>
                <a:cs typeface="Calibri"/>
              </a:defRPr>
            </a:pPr>
            <a:r>
              <a:rPr sz="2325">
                <a:solidFill>
                  <a:srgbClr val="1A1A1A"/>
                </a:solidFill>
                <a:latin typeface="Calibri"/>
                <a:ea typeface="Calibri"/>
                <a:cs typeface="Calibri"/>
              </a:rPr>
              <a:t>Documentation, application et livrables reliés au cahier des charges.</a:t>
            </a:r>
          </a:p>
        </p:txBody>
      </p:sp>
    </p:spTree>
    <p:extLst>
      <p:ext uri="{BB962C8B-B14F-4D97-AF65-F5344CB8AC3E}">
        <p14:creationId xmlns:p14="http://schemas.microsoft.com/office/powerpoint/2010/main" val="5020260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2026-09-14T20:56:35.4460000Z</dcterms:created>
  <dcterms:modified xsi:type="dcterms:W3CDTF">2026-09-14T20:56:35.4470000Z</dcterms:modified>
</coreProperties>
</file>